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9" r:id="rId10"/>
    <p:sldId id="265" r:id="rId11"/>
    <p:sldId id="288" r:id="rId12"/>
    <p:sldId id="266" r:id="rId13"/>
    <p:sldId id="267" r:id="rId14"/>
    <p:sldId id="268" r:id="rId15"/>
    <p:sldId id="271" r:id="rId16"/>
    <p:sldId id="272" r:id="rId17"/>
    <p:sldId id="270" r:id="rId18"/>
    <p:sldId id="273" r:id="rId19"/>
    <p:sldId id="274" r:id="rId20"/>
    <p:sldId id="275" r:id="rId21"/>
    <p:sldId id="276" r:id="rId22"/>
    <p:sldId id="263" r:id="rId23"/>
    <p:sldId id="277" r:id="rId24"/>
    <p:sldId id="278" r:id="rId25"/>
    <p:sldId id="279" r:id="rId26"/>
    <p:sldId id="280" r:id="rId27"/>
    <p:sldId id="281" r:id="rId28"/>
    <p:sldId id="282" r:id="rId29"/>
    <p:sldId id="284" r:id="rId30"/>
    <p:sldId id="285" r:id="rId31"/>
    <p:sldId id="286" r:id="rId32"/>
    <p:sldId id="287" r:id="rId3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1">
                  <a:lumOff val="1354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09D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2700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E3E5E8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E3E5E8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E3E5E8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262727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42424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9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498" y="11839048"/>
            <a:ext cx="21971003" cy="636979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196865"/>
            <a:ext cx="21971000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7748" y="13080999"/>
            <a:ext cx="368504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reen, hilly landscape"/>
          <p:cNvSpPr>
            <a:spLocks noGrp="1"/>
          </p:cNvSpPr>
          <p:nvPr>
            <p:ph type="pic" idx="21"/>
          </p:nvPr>
        </p:nvSpPr>
        <p:spPr>
          <a:xfrm>
            <a:off x="-431800" y="-4038600"/>
            <a:ext cx="29464000" cy="18034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4468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 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2403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4" name="Moss-covered rocks"/>
          <p:cNvSpPr>
            <a:spLocks noGrp="1"/>
          </p:cNvSpPr>
          <p:nvPr>
            <p:ph type="pic" sz="half" idx="21"/>
          </p:nvPr>
        </p:nvSpPr>
        <p:spPr>
          <a:xfrm>
            <a:off x="12052303" y="1270000"/>
            <a:ext cx="11188406" cy="1120988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3" name="Large rock formation under dark clouds with a dirt road in the foreground"/>
          <p:cNvSpPr>
            <a:spLocks noGrp="1"/>
          </p:cNvSpPr>
          <p:nvPr>
            <p:ph type="pic" idx="22"/>
          </p:nvPr>
        </p:nvSpPr>
        <p:spPr>
          <a:xfrm>
            <a:off x="6380200" y="1263848"/>
            <a:ext cx="22529801" cy="1119347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27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935258"/>
            <a:ext cx="21971000" cy="735906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 anchor="ctr"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lose-up of wild plants growing between rocks"/>
          <p:cNvSpPr>
            <a:spLocks noGrp="1"/>
          </p:cNvSpPr>
          <p:nvPr>
            <p:ph type="pic" sz="quarter" idx="21"/>
          </p:nvPr>
        </p:nvSpPr>
        <p:spPr>
          <a:xfrm>
            <a:off x="15430500" y="7085409"/>
            <a:ext cx="8128000" cy="5410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Large rock formation under dark clouds with a dirt road in the foreground"/>
          <p:cNvSpPr>
            <a:spLocks noGrp="1"/>
          </p:cNvSpPr>
          <p:nvPr>
            <p:ph type="pic" idx="22"/>
          </p:nvPr>
        </p:nvSpPr>
        <p:spPr>
          <a:xfrm>
            <a:off x="-2933700" y="1270000"/>
            <a:ext cx="22699133" cy="11277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Close-up of a wild plant growing between lava rocks"/>
          <p:cNvSpPr>
            <a:spLocks noGrp="1"/>
          </p:cNvSpPr>
          <p:nvPr>
            <p:ph type="pic" sz="quarter" idx="23"/>
          </p:nvPr>
        </p:nvSpPr>
        <p:spPr>
          <a:xfrm>
            <a:off x="15430500" y="1270000"/>
            <a:ext cx="8128000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waterfall surrounded by a green rocky landscape"/>
          <p:cNvSpPr>
            <a:spLocks noGrp="1"/>
          </p:cNvSpPr>
          <p:nvPr>
            <p:ph type="pic" idx="21"/>
          </p:nvPr>
        </p:nvSpPr>
        <p:spPr>
          <a:xfrm>
            <a:off x="-1511300" y="-3721100"/>
            <a:ext cx="28511500" cy="1903024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atbeddows@lincoln.ac.u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"/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mlco2.github.io" TargetMode="Externa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remote.abdn.ac.uk" TargetMode="Externa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USTAIN-CDT/SUSTAIN-CDT-HPC-Introduction" TargetMode="Externa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bdn.ac.uk/staffnet/working-here/it-services/remote-access.php" TargetMode="Externa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bdn.ac.uk/it/documents-uni-only/Maxwell-Galaxy-Software.pdf" TargetMode="Externa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download.pytorch.org/whl/cu124" TargetMode="Externa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"/><Relationship Id="rId2" Type="http://schemas.openxmlformats.org/officeDocument/2006/relationships/image" Target="../media/image5.ti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tif"/><Relationship Id="rId4" Type="http://schemas.openxmlformats.org/officeDocument/2006/relationships/image" Target="../media/image7.ti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slurm.schedmd.com/sbatch.html" TargetMode="Externa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neptune.ai/" TargetMode="External"/><Relationship Id="rId2" Type="http://schemas.openxmlformats.org/officeDocument/2006/relationships/hyperlink" Target="https://wandb.ai/site" TargetMode="Externa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tutorials/intermediate/ddp_tutorial.html" TargetMode="External"/><Relationship Id="rId2" Type="http://schemas.openxmlformats.org/officeDocument/2006/relationships/hyperlink" Target="https://pytorch.org/docs/stable/generated/torch.nn.DataParallel.html" TargetMode="Externa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engaging-web.mit.edu/eofe-wiki/slurm/srun/" TargetMode="External"/><Relationship Id="rId2" Type="http://schemas.openxmlformats.org/officeDocument/2006/relationships/hyperlink" Target="https://slurm.schedmd.com/quickstart.html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github.com/AidenDurrant/abdn-hpc" TargetMode="External"/><Relationship Id="rId4" Type="http://schemas.openxmlformats.org/officeDocument/2006/relationships/hyperlink" Target="https://www.abdn.ac.uk/research/digital-research/hpc-for-research-1097.php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Using Maxwell HPC"/>
          <p:cNvSpPr txBox="1">
            <a:spLocks noGrp="1"/>
          </p:cNvSpPr>
          <p:nvPr>
            <p:ph type="ctrTitle"/>
          </p:nvPr>
        </p:nvSpPr>
        <p:spPr>
          <a:xfrm>
            <a:off x="1206496" y="2613091"/>
            <a:ext cx="21971004" cy="4648201"/>
          </a:xfrm>
          <a:prstGeom prst="rect">
            <a:avLst/>
          </a:prstGeom>
        </p:spPr>
        <p:txBody>
          <a:bodyPr/>
          <a:lstStyle/>
          <a:p>
            <a:r>
              <a:t>Using Maxwell HPC</a:t>
            </a:r>
          </a:p>
        </p:txBody>
      </p:sp>
      <p:sp>
        <p:nvSpPr>
          <p:cNvPr id="172" name="SUSTAIN CDT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SUSTAIN CDT</a:t>
            </a:r>
          </a:p>
        </p:txBody>
      </p:sp>
      <p:sp>
        <p:nvSpPr>
          <p:cNvPr id="173" name="Prof. Georgios Leontidis…"/>
          <p:cNvSpPr txBox="1"/>
          <p:nvPr/>
        </p:nvSpPr>
        <p:spPr>
          <a:xfrm>
            <a:off x="1206498" y="10876869"/>
            <a:ext cx="7216638" cy="15991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normAutofit/>
          </a:bodyPr>
          <a:lstStyle/>
          <a:p>
            <a:pPr defTabSz="759459">
              <a:lnSpc>
                <a:spcPct val="100000"/>
              </a:lnSpc>
              <a:spcBef>
                <a:spcPts val="0"/>
              </a:spcBef>
              <a:defRPr sz="3312" b="1"/>
            </a:pPr>
            <a:endParaRPr dirty="0"/>
          </a:p>
          <a:p>
            <a:pPr defTabSz="759459">
              <a:lnSpc>
                <a:spcPct val="100000"/>
              </a:lnSpc>
              <a:spcBef>
                <a:spcPts val="0"/>
              </a:spcBef>
              <a:defRPr sz="3312" b="1"/>
            </a:pPr>
            <a:r>
              <a:rPr dirty="0"/>
              <a:t>Matthew Beddows</a:t>
            </a:r>
          </a:p>
        </p:txBody>
      </p:sp>
      <p:sp>
        <p:nvSpPr>
          <p:cNvPr id="174" name="georgios.leontidis@abdn.ac.uk…"/>
          <p:cNvSpPr txBox="1"/>
          <p:nvPr/>
        </p:nvSpPr>
        <p:spPr>
          <a:xfrm>
            <a:off x="8583681" y="10876869"/>
            <a:ext cx="7216638" cy="15991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normAutofit/>
          </a:bodyPr>
          <a:lstStyle/>
          <a:p>
            <a:pPr algn="ctr" defTabSz="759459">
              <a:lnSpc>
                <a:spcPct val="100000"/>
              </a:lnSpc>
              <a:spcBef>
                <a:spcPts val="0"/>
              </a:spcBef>
              <a:defRPr sz="3312" b="1"/>
            </a:pPr>
            <a:r>
              <a:rPr dirty="0"/>
              <a:t> </a:t>
            </a:r>
          </a:p>
          <a:p>
            <a:pPr algn="ctr" defTabSz="759459">
              <a:lnSpc>
                <a:spcPct val="100000"/>
              </a:lnSpc>
              <a:spcBef>
                <a:spcPts val="0"/>
              </a:spcBef>
              <a:defRPr sz="3312" b="1"/>
            </a:pPr>
            <a:r>
              <a:rPr u="sng" dirty="0">
                <a:hlinkClick r:id="rId2"/>
              </a:rPr>
              <a:t>matbeddows@lincoln.ac.uk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oday’s Sess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Today’s Session</a:t>
            </a:r>
          </a:p>
        </p:txBody>
      </p:sp>
      <p:sp>
        <p:nvSpPr>
          <p:cNvPr id="179" name="Remind you of the HPC Basic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HPC Basics</a:t>
            </a:r>
          </a:p>
          <a:p>
            <a:pPr lvl="1"/>
            <a:r>
              <a:rPr dirty="0"/>
              <a:t>Infrastructure</a:t>
            </a:r>
          </a:p>
          <a:p>
            <a:pPr lvl="1"/>
            <a:r>
              <a:rPr dirty="0"/>
              <a:t>Commands</a:t>
            </a:r>
          </a:p>
          <a:p>
            <a:pPr lvl="1"/>
            <a:r>
              <a:rPr dirty="0"/>
              <a:t>Workflow</a:t>
            </a:r>
          </a:p>
          <a:p>
            <a:r>
              <a:rPr dirty="0"/>
              <a:t>Hands on working examples</a:t>
            </a:r>
          </a:p>
          <a:p>
            <a:pPr lvl="1"/>
            <a:r>
              <a:rPr dirty="0"/>
              <a:t>SLURM</a:t>
            </a:r>
          </a:p>
          <a:p>
            <a:pPr lvl="1"/>
            <a:r>
              <a:rPr dirty="0"/>
              <a:t>Python / </a:t>
            </a:r>
            <a:r>
              <a:rPr dirty="0" err="1"/>
              <a:t>PyTorch</a:t>
            </a:r>
            <a:endParaRPr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Maxwel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Maxwell</a:t>
            </a:r>
          </a:p>
        </p:txBody>
      </p:sp>
      <p:sp>
        <p:nvSpPr>
          <p:cNvPr id="182" name="Overview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Overview</a:t>
            </a:r>
          </a:p>
        </p:txBody>
      </p:sp>
      <p:sp>
        <p:nvSpPr>
          <p:cNvPr id="183" name="Maxwell is a Linux supercomputing cluster housed in the University of Aberdeen, Edward Wright Datacenter.…"/>
          <p:cNvSpPr txBox="1">
            <a:spLocks noGrp="1"/>
          </p:cNvSpPr>
          <p:nvPr>
            <p:ph type="body" sz="half" idx="1"/>
          </p:nvPr>
        </p:nvSpPr>
        <p:spPr>
          <a:xfrm>
            <a:off x="1206500" y="4248504"/>
            <a:ext cx="14176574" cy="8256012"/>
          </a:xfrm>
          <a:prstGeom prst="rect">
            <a:avLst/>
          </a:prstGeom>
        </p:spPr>
        <p:txBody>
          <a:bodyPr/>
          <a:lstStyle/>
          <a:p>
            <a:pPr marL="0" indent="0" defTabSz="2292038">
              <a:spcBef>
                <a:spcPts val="4200"/>
              </a:spcBef>
              <a:buSzTx/>
              <a:buNone/>
              <a:defRPr sz="4512"/>
            </a:pPr>
            <a:r>
              <a:t>Maxwell is a Linux supercomputing cluster housed in the University of Aberdeen, Edward Wright Datacenter.</a:t>
            </a:r>
            <a:endParaRPr sz="1128"/>
          </a:p>
          <a:p>
            <a:pPr marL="0" indent="0" defTabSz="2292038">
              <a:spcBef>
                <a:spcPts val="4200"/>
              </a:spcBef>
              <a:buSzTx/>
              <a:buNone/>
              <a:defRPr sz="4512"/>
            </a:pPr>
            <a:r>
              <a:t>It is designed for running high computational workloads for simulation, modelling and training.</a:t>
            </a:r>
            <a:endParaRPr sz="1128"/>
          </a:p>
          <a:p>
            <a:pPr marL="0" indent="0" defTabSz="2292038">
              <a:spcBef>
                <a:spcPts val="4200"/>
              </a:spcBef>
              <a:buSzTx/>
              <a:buNone/>
              <a:defRPr sz="4512"/>
            </a:pPr>
            <a:r>
              <a:rPr b="1"/>
              <a:t>NOT</a:t>
            </a:r>
            <a:r>
              <a:t> a development environment.</a:t>
            </a:r>
            <a:endParaRPr sz="1128"/>
          </a:p>
          <a:p>
            <a:pPr marL="0" indent="0" defTabSz="2292038">
              <a:spcBef>
                <a:spcPts val="4200"/>
              </a:spcBef>
              <a:buSzTx/>
              <a:buNone/>
              <a:defRPr sz="4512"/>
            </a:pPr>
            <a:r>
              <a:rPr b="1"/>
              <a:t>NOT</a:t>
            </a:r>
            <a:r>
              <a:t> designed to host/interface model inference.</a:t>
            </a:r>
            <a:endParaRPr sz="1128"/>
          </a:p>
          <a:p>
            <a:pPr marL="0" indent="0" defTabSz="2292038">
              <a:spcBef>
                <a:spcPts val="4200"/>
              </a:spcBef>
              <a:buSzTx/>
              <a:buNone/>
              <a:defRPr sz="4512"/>
            </a:pPr>
            <a:r>
              <a:t>It is funded by University of Aberdeen and National Decommissioning Center and operated by external provider OCF.</a:t>
            </a:r>
            <a:r>
              <a:rPr sz="1128"/>
              <a:t> </a:t>
            </a:r>
          </a:p>
        </p:txBody>
      </p:sp>
      <p:pic>
        <p:nvPicPr>
          <p:cNvPr id="18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3068" y="7298623"/>
            <a:ext cx="9047216" cy="4523609"/>
          </a:xfrm>
          <a:prstGeom prst="rect">
            <a:avLst/>
          </a:prstGeom>
          <a:ln w="12700">
            <a:miter lim="400000"/>
          </a:ln>
        </p:spPr>
      </p:pic>
      <p:pic>
        <p:nvPicPr>
          <p:cNvPr id="18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8118" y="4930788"/>
            <a:ext cx="4605117" cy="179167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Maxwel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Maxwell</a:t>
            </a:r>
          </a:p>
        </p:txBody>
      </p:sp>
      <p:sp>
        <p:nvSpPr>
          <p:cNvPr id="188" name="Recourses Availab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dirty="0"/>
              <a:t>Re</a:t>
            </a:r>
            <a:r>
              <a:rPr lang="en-GB" dirty="0"/>
              <a:t>s</a:t>
            </a:r>
            <a:r>
              <a:rPr dirty="0" err="1"/>
              <a:t>ourses</a:t>
            </a:r>
            <a:r>
              <a:rPr dirty="0"/>
              <a:t> Available</a:t>
            </a:r>
          </a:p>
        </p:txBody>
      </p:sp>
      <p:sp>
        <p:nvSpPr>
          <p:cNvPr id="189" name="1 Petabyte of tiered storage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4600" b="1"/>
            </a:pPr>
            <a:r>
              <a:rPr dirty="0"/>
              <a:t>1 Petabyte of tiered storage</a:t>
            </a:r>
          </a:p>
          <a:p>
            <a:pPr>
              <a:defRPr sz="4600"/>
            </a:pPr>
            <a:r>
              <a:rPr dirty="0"/>
              <a:t>Each user 1TB</a:t>
            </a:r>
            <a:endParaRPr lang="en-GB" dirty="0"/>
          </a:p>
          <a:p>
            <a:pPr>
              <a:defRPr sz="4600"/>
            </a:pPr>
            <a:endParaRPr dirty="0"/>
          </a:p>
          <a:p>
            <a:pPr marL="0" indent="0">
              <a:buSzTx/>
              <a:buNone/>
              <a:defRPr sz="4600" b="1"/>
            </a:pPr>
            <a:r>
              <a:rPr dirty="0"/>
              <a:t>HPC </a:t>
            </a:r>
            <a:r>
              <a:rPr dirty="0" err="1"/>
              <a:t>optimised</a:t>
            </a:r>
            <a:r>
              <a:rPr dirty="0"/>
              <a:t> software</a:t>
            </a:r>
          </a:p>
          <a:p>
            <a:pPr marL="584200" indent="-584200">
              <a:defRPr sz="4600"/>
            </a:pPr>
            <a:r>
              <a:rPr dirty="0"/>
              <a:t>Environment managers</a:t>
            </a:r>
          </a:p>
        </p:txBody>
      </p:sp>
      <p:sp>
        <p:nvSpPr>
          <p:cNvPr id="190" name="CPU (compute) Nodes:…"/>
          <p:cNvSpPr txBox="1"/>
          <p:nvPr/>
        </p:nvSpPr>
        <p:spPr>
          <a:xfrm>
            <a:off x="12735917" y="2414148"/>
            <a:ext cx="9779001" cy="10073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pPr defTabSz="2267655">
              <a:spcBef>
                <a:spcPts val="4100"/>
              </a:spcBef>
              <a:defRPr sz="4464" b="1"/>
            </a:pPr>
            <a:r>
              <a:t>CPU (compute) Nodes:</a:t>
            </a:r>
          </a:p>
          <a:p>
            <a:pPr marL="485938" indent="-485938" defTabSz="2267655">
              <a:spcBef>
                <a:spcPts val="4100"/>
              </a:spcBef>
              <a:buSzPct val="123000"/>
              <a:buChar char="•"/>
              <a:defRPr sz="4464"/>
            </a:pPr>
            <a:r>
              <a:t>11 x Compute Nodes</a:t>
            </a:r>
          </a:p>
          <a:p>
            <a:pPr defTabSz="2267655">
              <a:spcBef>
                <a:spcPts val="4100"/>
              </a:spcBef>
              <a:defRPr sz="4464" b="1"/>
            </a:pPr>
            <a:r>
              <a:t>High Memory Nodes:</a:t>
            </a:r>
          </a:p>
          <a:p>
            <a:pPr marL="485938" indent="-485938" defTabSz="2267655">
              <a:spcBef>
                <a:spcPts val="4100"/>
              </a:spcBef>
              <a:buSzPct val="123000"/>
              <a:buChar char="•"/>
              <a:defRPr sz="4464"/>
            </a:pPr>
            <a:r>
              <a:t>11 x High Memory Nodes</a:t>
            </a:r>
          </a:p>
          <a:p>
            <a:pPr marL="485938" indent="-485938" defTabSz="2267655">
              <a:spcBef>
                <a:spcPts val="4100"/>
              </a:spcBef>
              <a:buSzPct val="123000"/>
              <a:buChar char="•"/>
              <a:defRPr sz="4464"/>
            </a:pPr>
            <a:r>
              <a:t>1 x Very High Memory Node (3TB)</a:t>
            </a:r>
          </a:p>
          <a:p>
            <a:pPr defTabSz="2267655">
              <a:spcBef>
                <a:spcPts val="4100"/>
              </a:spcBef>
              <a:defRPr sz="4464" b="1"/>
            </a:pPr>
            <a:r>
              <a:t>GPU Nodes:</a:t>
            </a:r>
          </a:p>
          <a:p>
            <a:pPr marL="485938" indent="-485938" defTabSz="2267655">
              <a:spcBef>
                <a:spcPts val="4100"/>
              </a:spcBef>
              <a:buSzPct val="123000"/>
              <a:buChar char="•"/>
              <a:defRPr sz="4464"/>
            </a:pPr>
            <a:r>
              <a:t>4 x 2080ti nodes (2 x 12GB RTX 2080ti per node)</a:t>
            </a:r>
          </a:p>
          <a:p>
            <a:pPr marL="485938" indent="-485938" defTabSz="2267655">
              <a:spcBef>
                <a:spcPts val="4100"/>
              </a:spcBef>
              <a:buSzPct val="123000"/>
              <a:buChar char="•"/>
              <a:defRPr sz="4464"/>
            </a:pPr>
            <a:r>
              <a:t>4 x A100 nodes (3 x 80GB A100 per node)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Maxwel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Maxwell</a:t>
            </a:r>
          </a:p>
        </p:txBody>
      </p:sp>
      <p:sp>
        <p:nvSpPr>
          <p:cNvPr id="193" name="Student Usage/Allocation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Student Usage/Allocation</a:t>
            </a:r>
          </a:p>
        </p:txBody>
      </p:sp>
      <p:sp>
        <p:nvSpPr>
          <p:cNvPr id="194" name="Each student as part of SUSTAIN will receive 3000 core hours as default.…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</p:spPr>
        <p:txBody>
          <a:bodyPr/>
          <a:lstStyle/>
          <a:p>
            <a:pPr marL="0" indent="0" algn="ctr">
              <a:buSzTx/>
              <a:buNone/>
              <a:defRPr sz="5600" b="1"/>
            </a:pPr>
            <a:r>
              <a:t>Each student as part of SUSTAIN will receive 3000 core hours as default.</a:t>
            </a:r>
          </a:p>
          <a:p>
            <a:pPr marL="0" indent="0" algn="ctr">
              <a:buSzTx/>
              <a:buNone/>
              <a:defRPr sz="5600" b="1"/>
            </a:pPr>
            <a:endParaRPr/>
          </a:p>
          <a:p>
            <a:pPr marL="0" indent="0" algn="ctr">
              <a:buSzTx/>
              <a:buNone/>
              <a:defRPr sz="5600" b="1"/>
            </a:pPr>
            <a:r>
              <a:t>If more is required, please consult with your supervisory team to purchase more credited hours.</a:t>
            </a:r>
          </a:p>
          <a:p>
            <a:pPr marL="0" indent="0" algn="ctr">
              <a:buSzTx/>
              <a:buNone/>
              <a:defRPr sz="5600"/>
            </a:pPr>
            <a:r>
              <a:t>Aberdeen HPC is costed at £0.10 per core/GPU hour.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Maxwel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Maxwell</a:t>
            </a:r>
          </a:p>
        </p:txBody>
      </p:sp>
      <p:sp>
        <p:nvSpPr>
          <p:cNvPr id="197" name="Fair Use Policy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Fair Use Policy</a:t>
            </a:r>
          </a:p>
        </p:txBody>
      </p:sp>
      <p:sp>
        <p:nvSpPr>
          <p:cNvPr id="198" name="Be courteous of the duration for which run jobs, and how much resource you request.…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</p:spPr>
        <p:txBody>
          <a:bodyPr/>
          <a:lstStyle/>
          <a:p>
            <a:pPr marL="0" indent="0" defTabSz="2267655">
              <a:spcBef>
                <a:spcPts val="4100"/>
              </a:spcBef>
              <a:buSzTx/>
              <a:buNone/>
              <a:defRPr sz="4464"/>
            </a:pPr>
            <a:r>
              <a:t>Be courteous of the duration for which run jobs, and how much resource you request.</a:t>
            </a:r>
          </a:p>
          <a:p>
            <a:pPr marL="0" indent="0" defTabSz="2267655">
              <a:spcBef>
                <a:spcPts val="4100"/>
              </a:spcBef>
              <a:buSzTx/>
              <a:buNone/>
              <a:defRPr sz="4464"/>
            </a:pPr>
            <a:endParaRPr sz="1116"/>
          </a:p>
          <a:p>
            <a:pPr marL="0" indent="0" defTabSz="2267655">
              <a:spcBef>
                <a:spcPts val="4100"/>
              </a:spcBef>
              <a:buSzTx/>
              <a:buNone/>
              <a:defRPr sz="4464"/>
            </a:pPr>
            <a:r>
              <a:t>If your job requires computation that is longer than 24 hours, you must handle it within the code/script.</a:t>
            </a:r>
            <a:endParaRPr sz="1116"/>
          </a:p>
          <a:p>
            <a:pPr marL="566927" indent="-566927" defTabSz="2267655">
              <a:spcBef>
                <a:spcPts val="4100"/>
              </a:spcBef>
              <a:defRPr sz="4464"/>
            </a:pPr>
            <a:r>
              <a:t>Checkpointing </a:t>
            </a:r>
            <a:endParaRPr sz="1116"/>
          </a:p>
          <a:p>
            <a:pPr marL="566927" indent="-566927" defTabSz="2267655">
              <a:spcBef>
                <a:spcPts val="4100"/>
              </a:spcBef>
              <a:defRPr sz="4464"/>
            </a:pPr>
            <a:r>
              <a:t>Save and Resume</a:t>
            </a:r>
            <a:endParaRPr sz="1116"/>
          </a:p>
          <a:p>
            <a:pPr marL="566927" indent="-566927" defTabSz="2267655">
              <a:spcBef>
                <a:spcPts val="4100"/>
              </a:spcBef>
              <a:defRPr sz="4464"/>
            </a:pPr>
            <a:r>
              <a:t>Detection of resume checkpoint</a:t>
            </a:r>
            <a:endParaRPr sz="1116"/>
          </a:p>
          <a:p>
            <a:pPr marL="566927" indent="-566927" defTabSz="2267655">
              <a:spcBef>
                <a:spcPts val="4100"/>
              </a:spcBef>
              <a:defRPr sz="4464"/>
            </a:pPr>
            <a:r>
              <a:t>Auto-Requeue SLURM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Carbon Usag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Carbon Usage</a:t>
            </a:r>
          </a:p>
        </p:txBody>
      </p:sp>
      <p:sp>
        <p:nvSpPr>
          <p:cNvPr id="201" name="HPC Impact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HPC Impact</a:t>
            </a:r>
          </a:p>
        </p:txBody>
      </p:sp>
      <p:sp>
        <p:nvSpPr>
          <p:cNvPr id="202" name="The S in SUSTAIN is Sustainable, so we have to ensure our compute follows suit.…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4600" b="1"/>
            </a:pPr>
            <a:r>
              <a:t>The S in SUSTAIN is Sustainable, so we have to ensure our compute follows suit.</a:t>
            </a:r>
          </a:p>
          <a:p>
            <a:pPr marL="0" indent="0">
              <a:buSzTx/>
              <a:buNone/>
              <a:defRPr sz="4600"/>
            </a:pPr>
            <a:r>
              <a:t>The Maxwell HPC fortunately employs a large amount of renewable energy from the Scottish power grid. </a:t>
            </a:r>
          </a:p>
          <a:p>
            <a:pPr marL="0" indent="0" algn="ctr">
              <a:buSzTx/>
              <a:buNone/>
              <a:defRPr sz="4600"/>
            </a:pPr>
            <a:r>
              <a:rPr u="sng">
                <a:hlinkClick r:id="rId2"/>
              </a:rPr>
              <a:t>https://mlco2.github.io</a:t>
            </a:r>
            <a:r>
              <a:t> </a:t>
            </a:r>
          </a:p>
          <a:p>
            <a:pPr marL="0" indent="0">
              <a:buSzTx/>
              <a:buNone/>
              <a:defRPr sz="4600"/>
            </a:pPr>
            <a:r>
              <a:t>For example,</a:t>
            </a:r>
          </a:p>
          <a:p>
            <a:pPr marL="0" indent="0" algn="ctr">
              <a:buSzTx/>
              <a:buNone/>
              <a:defRPr sz="4600"/>
            </a:pPr>
            <a:r>
              <a:t>A100 80GB GPU, 100 GPU hours, AWS, London Server = 15.5 Kg CO2 eq. 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Accessing Maxwel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Accessing Maxwell</a:t>
            </a:r>
          </a:p>
        </p:txBody>
      </p:sp>
      <p:sp>
        <p:nvSpPr>
          <p:cNvPr id="207" name="You should have been assigned a University of Aberdeen login…"/>
          <p:cNvSpPr txBox="1">
            <a:spLocks noGrp="1"/>
          </p:cNvSpPr>
          <p:nvPr>
            <p:ph type="body" sz="half" idx="1"/>
          </p:nvPr>
        </p:nvSpPr>
        <p:spPr>
          <a:xfrm>
            <a:off x="1206500" y="4248504"/>
            <a:ext cx="10063404" cy="8256012"/>
          </a:xfrm>
          <a:prstGeom prst="rect">
            <a:avLst/>
          </a:prstGeom>
        </p:spPr>
        <p:txBody>
          <a:bodyPr/>
          <a:lstStyle/>
          <a:p>
            <a:pPr marL="0" indent="0" algn="ctr" defTabSz="784225">
              <a:lnSpc>
                <a:spcPct val="100000"/>
              </a:lnSpc>
              <a:spcBef>
                <a:spcPts val="0"/>
              </a:spcBef>
              <a:buSzTx/>
              <a:buNone/>
              <a:defRPr sz="5225" b="1"/>
            </a:pPr>
            <a:r>
              <a:rPr dirty="0"/>
              <a:t>You should have been assigned a University of Aberdeen login</a:t>
            </a:r>
          </a:p>
          <a:p>
            <a:pPr marL="0" indent="0" algn="ctr" defTabSz="784225">
              <a:lnSpc>
                <a:spcPct val="100000"/>
              </a:lnSpc>
              <a:spcBef>
                <a:spcPts val="0"/>
              </a:spcBef>
              <a:buSzTx/>
              <a:buNone/>
              <a:defRPr sz="5225"/>
            </a:pPr>
            <a:endParaRPr dirty="0"/>
          </a:p>
          <a:p>
            <a:pPr marL="0" indent="0" algn="ctr" defTabSz="784225">
              <a:lnSpc>
                <a:spcPct val="100000"/>
              </a:lnSpc>
              <a:spcBef>
                <a:spcPts val="0"/>
              </a:spcBef>
              <a:buSzTx/>
              <a:buNone/>
              <a:defRPr sz="5225"/>
            </a:pPr>
            <a:endParaRPr dirty="0"/>
          </a:p>
          <a:p>
            <a:pPr marL="0" indent="0" algn="ctr" defTabSz="784225">
              <a:lnSpc>
                <a:spcPct val="100000"/>
              </a:lnSpc>
              <a:spcBef>
                <a:spcPts val="0"/>
              </a:spcBef>
              <a:buSzTx/>
              <a:buNone/>
              <a:defRPr sz="5225" b="1"/>
            </a:pPr>
            <a:r>
              <a:rPr dirty="0"/>
              <a:t>Head to:</a:t>
            </a:r>
          </a:p>
          <a:p>
            <a:pPr marL="0" indent="0" algn="ctr" defTabSz="784225">
              <a:lnSpc>
                <a:spcPct val="100000"/>
              </a:lnSpc>
              <a:spcBef>
                <a:spcPts val="0"/>
              </a:spcBef>
              <a:buSzTx/>
              <a:buNone/>
              <a:defRPr sz="5225" b="1"/>
            </a:pPr>
            <a:r>
              <a:rPr dirty="0"/>
              <a:t> </a:t>
            </a:r>
            <a:r>
              <a:rPr u="sng" dirty="0">
                <a:hlinkClick r:id="rId2"/>
              </a:rPr>
              <a:t>https://remote.abdn.ac.uk</a:t>
            </a:r>
            <a:r>
              <a:rPr b="0" dirty="0"/>
              <a:t> </a:t>
            </a:r>
          </a:p>
          <a:p>
            <a:pPr marL="0" indent="0" algn="ctr" defTabSz="784225">
              <a:lnSpc>
                <a:spcPct val="100000"/>
              </a:lnSpc>
              <a:spcBef>
                <a:spcPts val="0"/>
              </a:spcBef>
              <a:buSzTx/>
              <a:buNone/>
              <a:defRPr sz="5225" b="1"/>
            </a:pPr>
            <a:endParaRPr b="0" dirty="0"/>
          </a:p>
          <a:p>
            <a:pPr marL="0" indent="0" algn="ctr" defTabSz="784225">
              <a:lnSpc>
                <a:spcPct val="100000"/>
              </a:lnSpc>
              <a:spcBef>
                <a:spcPts val="0"/>
              </a:spcBef>
              <a:buSzTx/>
              <a:buNone/>
              <a:defRPr sz="5225" b="1"/>
            </a:pPr>
            <a:r>
              <a:rPr b="0" dirty="0"/>
              <a:t>Use your Aberdeen Credentials and Log In</a:t>
            </a:r>
          </a:p>
        </p:txBody>
      </p:sp>
      <p:pic>
        <p:nvPicPr>
          <p:cNvPr id="208" name="Screenshot 2025-01-29 at 10.27.01.png" descr="Screenshot 2025-01-29 at 10.27.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9912" y="4131904"/>
            <a:ext cx="8870846" cy="848921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Exercise:…"/>
          <p:cNvSpPr txBox="1">
            <a:spLocks noGrp="1"/>
          </p:cNvSpPr>
          <p:nvPr>
            <p:ph type="body" idx="1"/>
          </p:nvPr>
        </p:nvSpPr>
        <p:spPr>
          <a:xfrm>
            <a:off x="1206500" y="2784391"/>
            <a:ext cx="21971000" cy="9210733"/>
          </a:xfrm>
          <a:prstGeom prst="rect">
            <a:avLst/>
          </a:prstGeom>
        </p:spPr>
        <p:txBody>
          <a:bodyPr/>
          <a:lstStyle/>
          <a:p>
            <a:pPr defTabSz="1487386">
              <a:defRPr sz="7076" spc="-141"/>
            </a:pPr>
            <a:r>
              <a:rPr dirty="0"/>
              <a:t>Exercise:</a:t>
            </a:r>
          </a:p>
          <a:p>
            <a:pPr defTabSz="1487386">
              <a:defRPr sz="7076" spc="-141"/>
            </a:pPr>
            <a:endParaRPr dirty="0"/>
          </a:p>
          <a:p>
            <a:pPr defTabSz="1487386">
              <a:defRPr sz="7076" spc="-141"/>
            </a:pPr>
            <a:r>
              <a:rPr dirty="0"/>
              <a:t>1. Log into Maxwell and get familiar with the Directory Structure.</a:t>
            </a:r>
          </a:p>
          <a:p>
            <a:pPr defTabSz="1487386">
              <a:defRPr sz="7076" spc="-141"/>
            </a:pPr>
            <a:endParaRPr dirty="0"/>
          </a:p>
          <a:p>
            <a:pPr defTabSz="1487386">
              <a:defRPr sz="7076" spc="-141"/>
            </a:pPr>
            <a:r>
              <a:rPr dirty="0"/>
              <a:t>2. Upload the Python code from the GitHub example repository to your </a:t>
            </a:r>
            <a:r>
              <a:rPr dirty="0" err="1"/>
              <a:t>sharedscratch</a:t>
            </a:r>
            <a:r>
              <a:rPr dirty="0"/>
              <a:t>/ directory</a:t>
            </a:r>
            <a:endParaRPr lang="en-GB" dirty="0"/>
          </a:p>
          <a:p>
            <a:pPr defTabSz="1487386">
              <a:defRPr sz="7076" spc="-141"/>
            </a:pPr>
            <a:endParaRPr dirty="0"/>
          </a:p>
          <a:p>
            <a:pPr defTabSz="1487386">
              <a:defRPr sz="7076" spc="-141"/>
            </a:pPr>
            <a:r>
              <a:rPr lang="en-GB" dirty="0">
                <a:hlinkClick r:id="rId2"/>
              </a:rPr>
              <a:t>https://github.com/SUSTAIN-CDT/SUSTAIN-CDT-HPC-Introduction</a:t>
            </a:r>
            <a:endParaRPr dirty="0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Accessing Maxwel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Accessing Maxwell</a:t>
            </a:r>
          </a:p>
        </p:txBody>
      </p:sp>
      <p:sp>
        <p:nvSpPr>
          <p:cNvPr id="211" name="VPN, SSH, &amp; SFTP"/>
          <p:cNvSpPr txBox="1"/>
          <p:nvPr/>
        </p:nvSpPr>
        <p:spPr>
          <a:xfrm>
            <a:off x="1206500" y="2245962"/>
            <a:ext cx="9779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sz="5500" b="1"/>
            </a:lvl1pPr>
          </a:lstStyle>
          <a:p>
            <a:r>
              <a:t>VPN, SSH, &amp; SFTP</a:t>
            </a:r>
          </a:p>
        </p:txBody>
      </p:sp>
      <p:sp>
        <p:nvSpPr>
          <p:cNvPr id="212" name="If at UoA the HPC services can be accessed via SSH when connected to the university network (not eduroam).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2413955">
              <a:spcBef>
                <a:spcPts val="4400"/>
              </a:spcBef>
              <a:buSzTx/>
              <a:buNone/>
              <a:defRPr sz="4752"/>
            </a:pPr>
            <a:r>
              <a:rPr dirty="0"/>
              <a:t>If at </a:t>
            </a:r>
            <a:r>
              <a:rPr dirty="0" err="1"/>
              <a:t>UoA</a:t>
            </a:r>
            <a:r>
              <a:rPr dirty="0"/>
              <a:t> the HPC services can be accessed via SSH when connected to the university network (not </a:t>
            </a:r>
            <a:r>
              <a:rPr dirty="0" err="1"/>
              <a:t>eduroam</a:t>
            </a:r>
            <a:r>
              <a:rPr dirty="0"/>
              <a:t>).</a:t>
            </a:r>
            <a:endParaRPr sz="1188" dirty="0"/>
          </a:p>
          <a:p>
            <a:pPr marL="0" indent="0" defTabSz="2413955">
              <a:spcBef>
                <a:spcPts val="4400"/>
              </a:spcBef>
              <a:buSzTx/>
              <a:buNone/>
              <a:defRPr sz="4752"/>
            </a:pPr>
            <a:r>
              <a:rPr dirty="0"/>
              <a:t>Connecting to the university network can be achieved via the f5 VPN if not using a managed device.</a:t>
            </a:r>
            <a:endParaRPr sz="1188" dirty="0"/>
          </a:p>
          <a:p>
            <a:pPr marL="0" indent="0" defTabSz="2413955">
              <a:spcBef>
                <a:spcPts val="4400"/>
              </a:spcBef>
              <a:buSzTx/>
              <a:buNone/>
              <a:defRPr sz="4752"/>
            </a:pPr>
            <a:r>
              <a:rPr u="sng" dirty="0">
                <a:hlinkClick r:id="rId2"/>
              </a:rPr>
              <a:t>https://www.abdn.ac.uk/staffnet/working-here/it-services/remote-access.php</a:t>
            </a:r>
            <a:r>
              <a:rPr dirty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213" name="Maxwell login nodes:…"/>
          <p:cNvSpPr txBox="1"/>
          <p:nvPr/>
        </p:nvSpPr>
        <p:spPr>
          <a:xfrm>
            <a:off x="13205936" y="5239816"/>
            <a:ext cx="9779001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pPr>
              <a:defRPr b="1"/>
            </a:pPr>
            <a:r>
              <a:rPr dirty="0"/>
              <a:t>Maxwell login nodes:</a:t>
            </a:r>
            <a:endParaRPr sz="1200" dirty="0"/>
          </a:p>
          <a:p>
            <a:pPr marL="609600" indent="-609600">
              <a:buSzPct val="123000"/>
              <a:buChar char="•"/>
            </a:pPr>
            <a:r>
              <a:rPr dirty="0"/>
              <a:t>Maxlogin1.abdn.ac.uk : port 22</a:t>
            </a:r>
            <a:endParaRPr sz="1200" dirty="0"/>
          </a:p>
          <a:p>
            <a:pPr marL="609600" indent="-609600">
              <a:buSzPct val="123000"/>
              <a:buChar char="•"/>
            </a:pPr>
            <a:r>
              <a:rPr dirty="0"/>
              <a:t>Maxlogin2.abdn.ac.uk : port 22</a:t>
            </a:r>
            <a:endParaRPr lang="en-GB" dirty="0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27F88-7C6C-D1EC-2DDB-AAE2BF407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Accessing Maxwell">
            <a:extLst>
              <a:ext uri="{FF2B5EF4-FFF2-40B4-BE49-F238E27FC236}">
                <a16:creationId xmlns:a16="http://schemas.microsoft.com/office/drawing/2014/main" id="{04BC63A3-A601-F78F-2199-08D4CC69A3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Accessing Maxwell</a:t>
            </a:r>
          </a:p>
        </p:txBody>
      </p:sp>
      <p:sp>
        <p:nvSpPr>
          <p:cNvPr id="211" name="VPN, SSH, &amp; SFTP">
            <a:extLst>
              <a:ext uri="{FF2B5EF4-FFF2-40B4-BE49-F238E27FC236}">
                <a16:creationId xmlns:a16="http://schemas.microsoft.com/office/drawing/2014/main" id="{9D91C56F-2DBE-FFAD-1847-FABDFD5560F3}"/>
              </a:ext>
            </a:extLst>
          </p:cNvPr>
          <p:cNvSpPr txBox="1"/>
          <p:nvPr/>
        </p:nvSpPr>
        <p:spPr>
          <a:xfrm>
            <a:off x="1206500" y="2245962"/>
            <a:ext cx="9779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sz="5500" b="1"/>
            </a:lvl1pPr>
          </a:lstStyle>
          <a:p>
            <a:r>
              <a:rPr dirty="0"/>
              <a:t>SSH</a:t>
            </a:r>
          </a:p>
        </p:txBody>
      </p:sp>
      <p:sp>
        <p:nvSpPr>
          <p:cNvPr id="212" name="If at UoA the HPC services can be accessed via SSH when connected to the university network (not eduroam).…">
            <a:extLst>
              <a:ext uri="{FF2B5EF4-FFF2-40B4-BE49-F238E27FC236}">
                <a16:creationId xmlns:a16="http://schemas.microsoft.com/office/drawing/2014/main" id="{391FC620-2A07-31CB-9FE0-B46FF30646FA}"/>
              </a:ext>
            </a:extLst>
          </p:cNvPr>
          <p:cNvSpPr txBox="1">
            <a:spLocks noGrp="1"/>
          </p:cNvSpPr>
          <p:nvPr>
            <p:ph type="body" sz="half" idx="1"/>
          </p:nvPr>
        </p:nvSpPr>
        <p:spPr>
          <a:xfrm>
            <a:off x="1206499" y="4248504"/>
            <a:ext cx="21739225" cy="8256012"/>
          </a:xfrm>
          <a:prstGeom prst="rect">
            <a:avLst/>
          </a:prstGeom>
        </p:spPr>
        <p:txBody>
          <a:bodyPr/>
          <a:lstStyle/>
          <a:p>
            <a:pPr marL="0" indent="0" defTabSz="2413955">
              <a:spcBef>
                <a:spcPts val="4400"/>
              </a:spcBef>
              <a:buSzTx/>
              <a:buNone/>
              <a:defRPr sz="4752"/>
            </a:pPr>
            <a:r>
              <a:rPr lang="en-GB" dirty="0">
                <a:solidFill>
                  <a:schemeClr val="tx1"/>
                </a:solidFill>
              </a:rPr>
              <a:t>Most operating systems have SSH pre-</a:t>
            </a:r>
            <a:r>
              <a:rPr lang="en-GB" dirty="0" err="1">
                <a:solidFill>
                  <a:schemeClr val="tx1"/>
                </a:solidFill>
              </a:rPr>
              <a:t>isntalled</a:t>
            </a:r>
            <a:r>
              <a:rPr lang="en-GB" dirty="0">
                <a:solidFill>
                  <a:schemeClr val="tx1"/>
                </a:solidFill>
              </a:rPr>
              <a:t>, this will allow us to access Maxwell.</a:t>
            </a:r>
          </a:p>
          <a:p>
            <a:pPr marL="0" indent="0" defTabSz="2413955">
              <a:spcBef>
                <a:spcPts val="4400"/>
              </a:spcBef>
              <a:buSzTx/>
              <a:buNone/>
              <a:defRPr sz="4752"/>
            </a:pPr>
            <a:r>
              <a:rPr lang="en-GB" dirty="0">
                <a:solidFill>
                  <a:schemeClr val="tx1"/>
                </a:solidFill>
              </a:rPr>
              <a:t>Open your terminal:</a:t>
            </a:r>
          </a:p>
          <a:p>
            <a:pPr marL="0" indent="0" defTabSz="2413955">
              <a:spcBef>
                <a:spcPts val="4400"/>
              </a:spcBef>
              <a:buSzTx/>
              <a:buNone/>
              <a:defRPr sz="4752"/>
            </a:pPr>
            <a:r>
              <a:rPr lang="en-GB" dirty="0">
                <a:solidFill>
                  <a:schemeClr val="tx1"/>
                </a:solidFill>
              </a:rPr>
              <a:t>SSH &lt;Username&gt;@maxlogin1.abdn.ac.uk</a:t>
            </a:r>
          </a:p>
          <a:p>
            <a:pPr marL="0" indent="0" defTabSz="2413955">
              <a:spcBef>
                <a:spcPts val="4400"/>
              </a:spcBef>
              <a:buSzTx/>
              <a:buNone/>
              <a:defRPr sz="4752"/>
            </a:pPr>
            <a:r>
              <a:rPr lang="en-GB" dirty="0">
                <a:solidFill>
                  <a:schemeClr val="tx1"/>
                </a:solidFill>
              </a:rPr>
              <a:t>This will then p[prompt you to enter your password provided </a:t>
            </a:r>
            <a:r>
              <a:rPr lang="en-GB" dirty="0" err="1">
                <a:solidFill>
                  <a:schemeClr val="tx1"/>
                </a:solidFill>
              </a:rPr>
              <a:t>ny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 err="1">
                <a:solidFill>
                  <a:schemeClr val="tx1"/>
                </a:solidFill>
              </a:rPr>
              <a:t>yhe</a:t>
            </a:r>
            <a:r>
              <a:rPr lang="en-GB" dirty="0">
                <a:solidFill>
                  <a:schemeClr val="tx1"/>
                </a:solidFill>
              </a:rPr>
              <a:t> Aberdeen IT team.</a:t>
            </a:r>
          </a:p>
        </p:txBody>
      </p:sp>
    </p:spTree>
    <p:extLst>
      <p:ext uri="{BB962C8B-B14F-4D97-AF65-F5344CB8AC3E}">
        <p14:creationId xmlns:p14="http://schemas.microsoft.com/office/powerpoint/2010/main" val="355511245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Using Maxwel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Using Maxwell</a:t>
            </a:r>
          </a:p>
        </p:txBody>
      </p:sp>
      <p:sp>
        <p:nvSpPr>
          <p:cNvPr id="216" name="Directory Structure"/>
          <p:cNvSpPr txBox="1"/>
          <p:nvPr/>
        </p:nvSpPr>
        <p:spPr>
          <a:xfrm>
            <a:off x="1206500" y="2245962"/>
            <a:ext cx="9779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sz="5500" b="1"/>
            </a:lvl1pPr>
          </a:lstStyle>
          <a:p>
            <a:r>
              <a:t>Directory Structure</a:t>
            </a:r>
          </a:p>
        </p:txBody>
      </p:sp>
      <p:sp>
        <p:nvSpPr>
          <p:cNvPr id="217" name="Two key directories: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1877520">
              <a:spcBef>
                <a:spcPts val="3400"/>
              </a:spcBef>
              <a:buSzTx/>
              <a:buNone/>
              <a:defRPr sz="3696" b="1"/>
            </a:pPr>
            <a:r>
              <a:t>Two key directories:</a:t>
            </a:r>
            <a:endParaRPr sz="924"/>
          </a:p>
          <a:p>
            <a:pPr marL="469391" indent="-469391" defTabSz="1877520">
              <a:spcBef>
                <a:spcPts val="3400"/>
              </a:spcBef>
              <a:buSzPct val="75000"/>
              <a:defRPr sz="3696">
                <a:latin typeface="SF Mono Regular"/>
                <a:ea typeface="SF Mono Regular"/>
                <a:cs typeface="SF Mono Regular"/>
                <a:sym typeface="SF Mono Regular"/>
              </a:defRPr>
            </a:pPr>
            <a:r>
              <a:rPr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</a:rPr>
              <a:t>home</a:t>
            </a:r>
            <a:endParaRPr sz="924">
              <a:solidFill>
                <a:schemeClr val="accent3">
                  <a:hueOff val="-385756"/>
                  <a:satOff val="-32155"/>
                  <a:lumOff val="17967"/>
                </a:schemeClr>
              </a:solidFill>
            </a:endParaRPr>
          </a:p>
          <a:p>
            <a:pPr marL="469391" indent="-469391" defTabSz="1877520">
              <a:spcBef>
                <a:spcPts val="3400"/>
              </a:spcBef>
              <a:buSzPct val="75000"/>
              <a:defRPr sz="3696">
                <a:latin typeface="SF Mono Regular"/>
                <a:ea typeface="SF Mono Regular"/>
                <a:cs typeface="SF Mono Regular"/>
                <a:sym typeface="SF Mono Regular"/>
              </a:defRPr>
            </a:pPr>
            <a:r>
              <a:rPr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</a:rPr>
              <a:t>sharedscratch</a:t>
            </a:r>
            <a:endParaRPr sz="924">
              <a:solidFill>
                <a:schemeClr val="accent3">
                  <a:hueOff val="-385756"/>
                  <a:satOff val="-32155"/>
                  <a:lumOff val="17967"/>
                </a:schemeClr>
              </a:solidFill>
            </a:endParaRPr>
          </a:p>
          <a:p>
            <a:pPr marL="0" indent="0" defTabSz="1877520">
              <a:spcBef>
                <a:spcPts val="3400"/>
              </a:spcBef>
              <a:buSzTx/>
              <a:buNone/>
              <a:defRPr sz="3696" b="1"/>
            </a:pPr>
            <a:r>
              <a:t>Home:</a:t>
            </a:r>
            <a:endParaRPr sz="924"/>
          </a:p>
          <a:p>
            <a:pPr marL="469391" indent="-469391" defTabSz="1877520">
              <a:spcBef>
                <a:spcPts val="3400"/>
              </a:spcBef>
              <a:defRPr sz="3696"/>
            </a:pPr>
            <a:r>
              <a:t>Personal 50GB resilient, backed-up.</a:t>
            </a:r>
            <a:endParaRPr sz="924"/>
          </a:p>
          <a:p>
            <a:pPr marL="0" lvl="4" indent="1408175" defTabSz="1877520">
              <a:spcBef>
                <a:spcPts val="3400"/>
              </a:spcBef>
              <a:buSzTx/>
              <a:buNone/>
              <a:defRPr sz="3696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  <a:latin typeface="SF Mono Regular"/>
                <a:ea typeface="SF Mono Regular"/>
                <a:cs typeface="SF Mono Regular"/>
                <a:sym typeface="SF Mono Regular"/>
              </a:defRPr>
            </a:pPr>
            <a:r>
              <a:t>/uoa/home/&lt;username&gt;/</a:t>
            </a:r>
            <a:endParaRPr sz="924"/>
          </a:p>
          <a:p>
            <a:pPr marL="0" indent="0" defTabSz="1877520">
              <a:spcBef>
                <a:spcPts val="3400"/>
              </a:spcBef>
              <a:buSzTx/>
              <a:buNone/>
              <a:defRPr sz="3696" b="1"/>
            </a:pPr>
            <a:r>
              <a:t>Sharedscratch:</a:t>
            </a:r>
            <a:endParaRPr sz="924"/>
          </a:p>
          <a:p>
            <a:pPr marL="469391" indent="-469391" defTabSz="1877520">
              <a:spcBef>
                <a:spcPts val="3400"/>
              </a:spcBef>
              <a:defRPr sz="3696"/>
            </a:pPr>
            <a:r>
              <a:t>1TB scratch space for working storage.</a:t>
            </a:r>
            <a:endParaRPr sz="924"/>
          </a:p>
          <a:p>
            <a:pPr marL="0" lvl="2" indent="704087" defTabSz="1877520">
              <a:spcBef>
                <a:spcPts val="3400"/>
              </a:spcBef>
              <a:buSzTx/>
              <a:buNone/>
              <a:defRPr sz="3696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  <a:latin typeface="SF Mono Regular"/>
                <a:ea typeface="SF Mono Regular"/>
                <a:cs typeface="SF Mono Regular"/>
                <a:sym typeface="SF Mono Regular"/>
              </a:defRPr>
            </a:pPr>
            <a:r>
              <a:t>/uoa/scratch/users/&lt;username&gt;/</a:t>
            </a:r>
          </a:p>
        </p:txBody>
      </p:sp>
      <p:graphicFrame>
        <p:nvGraphicFramePr>
          <p:cNvPr id="218" name="Table 1"/>
          <p:cNvGraphicFramePr/>
          <p:nvPr/>
        </p:nvGraphicFramePr>
        <p:xfrm>
          <a:off x="12081463" y="3184063"/>
          <a:ext cx="11087906" cy="9489421"/>
        </p:xfrm>
        <a:graphic>
          <a:graphicData uri="http://schemas.openxmlformats.org/drawingml/2006/table">
            <a:tbl>
              <a:tblPr>
                <a:tableStyleId>{2708684C-4D16-4618-839F-0558EEFCDFE6}</a:tableStyleId>
              </a:tblPr>
              <a:tblGrid>
                <a:gridCol w="2856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3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0391">
                <a:tc>
                  <a:txBody>
                    <a:bodyPr/>
                    <a:lstStyle/>
                    <a:p>
                      <a:pPr algn="l" defTabSz="8255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 b="1"/>
                        <a:t>Storage</a:t>
                      </a:r>
                    </a:p>
                  </a:txBody>
                  <a:tcPr marL="50800" marR="50800" marT="50800" marB="50800" horzOverflow="overflow">
                    <a:lnL w="12700">
                      <a:solidFill>
                        <a:srgbClr val="A9A9A9"/>
                      </a:solidFill>
                      <a:miter lim="400000"/>
                    </a:lnL>
                    <a:lnT w="12700">
                      <a:solidFill>
                        <a:srgbClr val="A9A9A9"/>
                      </a:solidFill>
                      <a:miter lim="400000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8255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 b="1"/>
                        <a:t>HPC Backup and Restore Policy</a:t>
                      </a:r>
                    </a:p>
                  </a:txBody>
                  <a:tcPr marL="50800" marR="50800" marT="50800" marB="50800" horzOverflow="overflow">
                    <a:lnR w="12700">
                      <a:solidFill>
                        <a:srgbClr val="A9A9A9"/>
                      </a:solidFill>
                      <a:miter lim="400000"/>
                    </a:lnR>
                    <a:lnT w="12700">
                      <a:solidFill>
                        <a:srgbClr val="A9A9A9"/>
                      </a:solidFill>
                      <a:miter lim="400000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74268">
                <a:tc>
                  <a:txBody>
                    <a:bodyPr/>
                    <a:lstStyle/>
                    <a:p>
                      <a:pPr algn="l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Home Space</a:t>
                      </a:r>
                    </a:p>
                  </a:txBody>
                  <a:tcPr marL="50800" marR="50800" marT="50800" marB="50800" horzOverflow="overflow">
                    <a:lnL w="12700">
                      <a:solidFill>
                        <a:srgbClr val="A9A9A9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l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3200" b="1"/>
                      </a:pPr>
                      <a:r>
                        <a:t>Data is backed up as follows:</a:t>
                      </a:r>
                      <a:endParaRPr>
                        <a:solidFill>
                          <a:srgbClr val="000000">
                            <a:alpha val="84706"/>
                          </a:srgbClr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406400" indent="-406400" algn="l" defTabSz="2438338">
                        <a:lnSpc>
                          <a:spcPct val="90000"/>
                        </a:lnSpc>
                        <a:spcBef>
                          <a:spcPts val="1600"/>
                        </a:spcBef>
                        <a:buSzPct val="123000"/>
                        <a:buChar char="•"/>
                        <a:defRPr sz="3200"/>
                      </a:pPr>
                      <a:r>
                        <a:t>Daily backups kept for 14 days</a:t>
                      </a:r>
                      <a:endParaRPr>
                        <a:solidFill>
                          <a:srgbClr val="000000">
                            <a:alpha val="84706"/>
                          </a:srgbClr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406400" indent="-406400" algn="l" defTabSz="2438338">
                        <a:lnSpc>
                          <a:spcPct val="90000"/>
                        </a:lnSpc>
                        <a:spcBef>
                          <a:spcPts val="1600"/>
                        </a:spcBef>
                        <a:buSzPct val="123000"/>
                        <a:buChar char="•"/>
                        <a:defRPr sz="3200"/>
                      </a:pPr>
                      <a:r>
                        <a:t>Weekly backups kept for 1 week</a:t>
                      </a:r>
                      <a:endParaRPr>
                        <a:solidFill>
                          <a:srgbClr val="000000">
                            <a:alpha val="84706"/>
                          </a:srgbClr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algn="l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3200" b="1"/>
                      </a:pPr>
                      <a:r>
                        <a:t>Files can be restored as follows:</a:t>
                      </a:r>
                      <a:endParaRPr>
                        <a:solidFill>
                          <a:srgbClr val="000000">
                            <a:alpha val="84706"/>
                          </a:srgbClr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406400" indent="-406400" algn="l" defTabSz="2438338">
                        <a:spcBef>
                          <a:spcPts val="1600"/>
                        </a:spcBef>
                        <a:buSzPct val="123000"/>
                        <a:buChar char="•"/>
                        <a:defRPr sz="3200"/>
                      </a:pPr>
                      <a:r>
                        <a:t>To the path that folder/files came, or</a:t>
                      </a:r>
                      <a:endParaRPr>
                        <a:solidFill>
                          <a:srgbClr val="000000">
                            <a:alpha val="84706"/>
                          </a:srgbClr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406400" indent="-406400" algn="l" defTabSz="2438338">
                        <a:spcBef>
                          <a:spcPts val="1600"/>
                        </a:spcBef>
                        <a:buSzPct val="123000"/>
                        <a:buChar char="•"/>
                        <a:defRPr sz="3200"/>
                      </a:pPr>
                      <a:r>
                        <a:t>To a different specified HPC file path, or</a:t>
                      </a:r>
                      <a:endParaRPr>
                        <a:solidFill>
                          <a:srgbClr val="000000">
                            <a:alpha val="84706"/>
                          </a:srgbClr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406400" indent="-406400" algn="l" defTabSz="2438338">
                        <a:spcBef>
                          <a:spcPts val="1600"/>
                        </a:spcBef>
                        <a:buSzPct val="123000"/>
                        <a:buChar char="•"/>
                        <a:defRPr sz="3200"/>
                      </a:pPr>
                      <a:r>
                        <a:t>To a specified shared drive</a:t>
                      </a:r>
                      <a:endParaRPr>
                        <a:solidFill>
                          <a:srgbClr val="000000">
                            <a:alpha val="84706"/>
                          </a:srgbClr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algn="l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 sz="3200"/>
                      </a:pPr>
                      <a:r>
                        <a:t>Restoration request process:</a:t>
                      </a:r>
                      <a:endParaRPr>
                        <a:solidFill>
                          <a:srgbClr val="000000">
                            <a:alpha val="84706"/>
                          </a:srgbClr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406400" indent="-406400" algn="l" defTabSz="2438338">
                        <a:lnSpc>
                          <a:spcPct val="90000"/>
                        </a:lnSpc>
                        <a:spcBef>
                          <a:spcPts val="1600"/>
                        </a:spcBef>
                        <a:buSzPct val="123000"/>
                        <a:buChar char="•"/>
                        <a:defRPr sz="3200"/>
                      </a:pPr>
                      <a:r>
                        <a:t>Contact servicedesk@abdn.ac.uk</a:t>
                      </a:r>
                    </a:p>
                  </a:txBody>
                  <a:tcPr marL="50800" marR="50800" marT="50800" marB="50800" horzOverflow="overflow">
                    <a:lnR w="12700">
                      <a:solidFill>
                        <a:srgbClr val="A9A9A9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4762">
                <a:tc>
                  <a:txBody>
                    <a:bodyPr/>
                    <a:lstStyle/>
                    <a:p>
                      <a:pPr algn="l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Shared scratch</a:t>
                      </a:r>
                    </a:p>
                  </a:txBody>
                  <a:tcPr marL="50800" marR="50800" marT="50800" marB="50800" horzOverflow="overflow">
                    <a:lnL w="12700">
                      <a:solidFill>
                        <a:srgbClr val="A9A9A9"/>
                      </a:solidFill>
                      <a:miter lim="400000"/>
                    </a:lnL>
                    <a:lnB w="12700">
                      <a:solidFill>
                        <a:srgbClr val="A9A9A9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2438338">
                        <a:lnSpc>
                          <a:spcPct val="90000"/>
                        </a:lnSpc>
                        <a:spcBef>
                          <a:spcPts val="4500"/>
                        </a:spcBef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3200">
                          <a:solidFill>
                            <a:srgbClr val="FFFFFF"/>
                          </a:solidFill>
                        </a:rPr>
                        <a:t>Not backed up</a:t>
                      </a:r>
                    </a:p>
                  </a:txBody>
                  <a:tcPr marL="50800" marR="50800" marT="50800" marB="50800" horzOverflow="overflow">
                    <a:lnR w="12700">
                      <a:solidFill>
                        <a:srgbClr val="A9A9A9"/>
                      </a:solidFill>
                      <a:miter lim="400000"/>
                    </a:lnR>
                    <a:lnB w="12700">
                      <a:solidFill>
                        <a:srgbClr val="A9A9A9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Using Maxwel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Using Maxwell</a:t>
            </a:r>
          </a:p>
        </p:txBody>
      </p:sp>
      <p:sp>
        <p:nvSpPr>
          <p:cNvPr id="221" name="Data Management"/>
          <p:cNvSpPr txBox="1"/>
          <p:nvPr/>
        </p:nvSpPr>
        <p:spPr>
          <a:xfrm>
            <a:off x="1206500" y="2245962"/>
            <a:ext cx="9779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sz="5500" b="1"/>
            </a:lvl1pPr>
          </a:lstStyle>
          <a:p>
            <a:r>
              <a:t>Data Management</a:t>
            </a:r>
          </a:p>
        </p:txBody>
      </p:sp>
      <p:sp>
        <p:nvSpPr>
          <p:cNvPr id="222" name="Transferring of data is best done via SFTP (e.g. WinSCP)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Transferring of data is best done via SFTP (e.g.</a:t>
            </a:r>
            <a:r>
              <a:rPr sz="1200"/>
              <a:t> </a:t>
            </a:r>
            <a:r>
              <a:t>WinSCP)</a:t>
            </a:r>
          </a:p>
          <a:p>
            <a:pPr marL="0" indent="0">
              <a:buSzTx/>
              <a:buNone/>
            </a:pPr>
            <a:r>
              <a:t>All code, data, and outputs should be stored in sharedscratch.</a:t>
            </a:r>
            <a:endParaRPr sz="1200"/>
          </a:p>
          <a:p>
            <a:pPr marL="0" indent="0">
              <a:buSzTx/>
              <a:buNone/>
            </a:pPr>
            <a:r>
              <a:t>home should be use only for small quantities of critical data. </a:t>
            </a:r>
            <a:endParaRPr sz="1200"/>
          </a:p>
          <a:p>
            <a:pPr marL="0" indent="0">
              <a:buSzTx/>
              <a:buNone/>
            </a:pPr>
            <a:r>
              <a:t>It is recommended to use version control software for code management. (git - github/gitlab)</a:t>
            </a:r>
          </a:p>
        </p:txBody>
      </p:sp>
      <p:sp>
        <p:nvSpPr>
          <p:cNvPr id="223" name="Maxwell storage is not optimised for speed rather for redundancy.…"/>
          <p:cNvSpPr txBox="1"/>
          <p:nvPr/>
        </p:nvSpPr>
        <p:spPr>
          <a:xfrm>
            <a:off x="12735917" y="4261204"/>
            <a:ext cx="9779001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pPr defTabSz="1975054">
              <a:spcBef>
                <a:spcPts val="3600"/>
              </a:spcBef>
              <a:defRPr sz="3888"/>
            </a:pPr>
            <a:r>
              <a:t>Maxwell storage is not optimised for speed rather for redundancy.</a:t>
            </a:r>
            <a:endParaRPr sz="972"/>
          </a:p>
          <a:p>
            <a:pPr marL="493776" indent="-493776" defTabSz="1975054">
              <a:spcBef>
                <a:spcPts val="3600"/>
              </a:spcBef>
              <a:buSzPct val="123000"/>
              <a:buChar char="•"/>
              <a:defRPr sz="3888"/>
            </a:pPr>
            <a:r>
              <a:t>Preprocess prior if possible.</a:t>
            </a:r>
            <a:endParaRPr sz="972"/>
          </a:p>
          <a:p>
            <a:pPr marL="493776" indent="-493776" defTabSz="1975054">
              <a:spcBef>
                <a:spcPts val="3600"/>
              </a:spcBef>
              <a:buSzPct val="123000"/>
              <a:buChar char="•"/>
              <a:defRPr sz="3888"/>
            </a:pPr>
            <a:r>
              <a:t>Store data in more efficient formats (i.e. HDF5)</a:t>
            </a:r>
            <a:endParaRPr sz="972"/>
          </a:p>
          <a:p>
            <a:pPr marL="493776" indent="-493776" defTabSz="1975054">
              <a:spcBef>
                <a:spcPts val="3600"/>
              </a:spcBef>
              <a:buSzPct val="123000"/>
              <a:buChar char="•"/>
              <a:defRPr sz="3888"/>
            </a:pPr>
            <a:r>
              <a:t>Avoid multiple jobs accessing same data.</a:t>
            </a:r>
            <a:endParaRPr sz="972"/>
          </a:p>
          <a:p>
            <a:pPr defTabSz="1975054">
              <a:spcBef>
                <a:spcPts val="3600"/>
              </a:spcBef>
              <a:defRPr sz="3888"/>
            </a:pPr>
            <a:endParaRPr sz="972"/>
          </a:p>
          <a:p>
            <a:pPr algn="ctr" defTabSz="1975054">
              <a:spcBef>
                <a:spcPts val="3600"/>
              </a:spcBef>
              <a:defRPr sz="3888">
                <a:solidFill>
                  <a:schemeClr val="accent4">
                    <a:hueOff val="-613784"/>
                    <a:lumOff val="1275"/>
                  </a:schemeClr>
                </a:solidFill>
              </a:defRPr>
            </a:pPr>
            <a:r>
              <a:t>ALWAYS CHECK WHAT YOU ARE WRITING TO DISK BEFORE RUNNING!</a:t>
            </a:r>
            <a:endParaRPr sz="972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itHub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GitHub</a:t>
            </a:r>
          </a:p>
        </p:txBody>
      </p:sp>
      <p:sp>
        <p:nvSpPr>
          <p:cNvPr id="226" name="Data Management"/>
          <p:cNvSpPr txBox="1"/>
          <p:nvPr/>
        </p:nvSpPr>
        <p:spPr>
          <a:xfrm>
            <a:off x="1206500" y="2245962"/>
            <a:ext cx="9779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sz="5500" b="1"/>
            </a:lvl1pPr>
          </a:lstStyle>
          <a:p>
            <a:r>
              <a:t>Data Management</a:t>
            </a:r>
          </a:p>
        </p:txBody>
      </p:sp>
      <p:sp>
        <p:nvSpPr>
          <p:cNvPr id="227" name="Git can be used on Maxwell just like on your desktops.…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Git can be used on Maxwell just like on your desktops.</a:t>
            </a:r>
          </a:p>
          <a:p>
            <a:pPr marL="0" indent="0">
              <a:buSzTx/>
              <a:buNone/>
            </a:pPr>
            <a:r>
              <a:t>Once we have navigated to our SharedScratch folder we can clone our repo into the folder using:</a:t>
            </a:r>
          </a:p>
          <a:p>
            <a:pPr marL="0" indent="0">
              <a:buSzTx/>
              <a:buNone/>
            </a:pPr>
            <a:r>
              <a:t>git clone &lt;repository-url&gt;</a:t>
            </a:r>
          </a:p>
        </p:txBody>
      </p:sp>
      <p:pic>
        <p:nvPicPr>
          <p:cNvPr id="228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7900" y="2184400"/>
            <a:ext cx="9347200" cy="93472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Using Maxwel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Using Maxwell</a:t>
            </a:r>
          </a:p>
        </p:txBody>
      </p:sp>
      <p:sp>
        <p:nvSpPr>
          <p:cNvPr id="235" name="Maxwell is pre-installed with a number of HPC optimised software.…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21782454" cy="8256012"/>
          </a:xfrm>
          <a:prstGeom prst="rect">
            <a:avLst/>
          </a:prstGeom>
        </p:spPr>
        <p:txBody>
          <a:bodyPr/>
          <a:lstStyle/>
          <a:p>
            <a:pPr marL="0" indent="0" defTabSz="2267655">
              <a:spcBef>
                <a:spcPts val="4100"/>
              </a:spcBef>
              <a:buSzTx/>
              <a:buNone/>
              <a:defRPr sz="4464"/>
            </a:pPr>
            <a:r>
              <a:t>Maxwell is pre-installed with a number of HPC optimised software.</a:t>
            </a:r>
          </a:p>
          <a:p>
            <a:pPr marL="566927" indent="-566927" defTabSz="2267655">
              <a:spcBef>
                <a:spcPts val="4100"/>
              </a:spcBef>
              <a:defRPr sz="4464"/>
            </a:pPr>
            <a:r>
              <a:t>A list of available software can be found at: </a:t>
            </a:r>
            <a:r>
              <a:rPr>
                <a:hlinkClick r:id="rId2"/>
              </a:rPr>
              <a:t>https://www.abdn.ac.uk/it/documents-uni-only/Maxwell-Galaxy-Software.pdf</a:t>
            </a:r>
            <a:r>
              <a:t> </a:t>
            </a:r>
          </a:p>
          <a:p>
            <a:pPr marL="566927" indent="-566927" defTabSz="2267655">
              <a:spcBef>
                <a:spcPts val="4100"/>
              </a:spcBef>
              <a:defRPr sz="4464"/>
            </a:pPr>
            <a:r>
              <a:t>To utilize software when running a job simply load it via:</a:t>
            </a:r>
          </a:p>
          <a:p>
            <a:pPr marL="0" indent="0" algn="ctr" defTabSz="2267655">
              <a:spcBef>
                <a:spcPts val="4100"/>
              </a:spcBef>
              <a:buSzTx/>
              <a:buNone/>
              <a:defRPr sz="4464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  <a:latin typeface="SF Mono Regular"/>
                <a:ea typeface="SF Mono Regular"/>
                <a:cs typeface="SF Mono Regular"/>
                <a:sym typeface="SF Mono Regular"/>
              </a:defRPr>
            </a:pPr>
            <a:r>
              <a:t>module load &lt;name_of_software&gt;</a:t>
            </a:r>
          </a:p>
          <a:p>
            <a:pPr marL="566927" indent="-566927" defTabSz="2267655">
              <a:spcBef>
                <a:spcPts val="4100"/>
              </a:spcBef>
              <a:defRPr sz="4464"/>
            </a:pPr>
            <a:r>
              <a:t>You can load multiple software packages, and unload via:</a:t>
            </a:r>
          </a:p>
          <a:p>
            <a:pPr marL="0" indent="0" algn="ctr" defTabSz="2267655">
              <a:spcBef>
                <a:spcPts val="4100"/>
              </a:spcBef>
              <a:buSzTx/>
              <a:buNone/>
              <a:defRPr sz="4464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  <a:latin typeface="SF Mono Regular"/>
                <a:ea typeface="SF Mono Regular"/>
                <a:cs typeface="SF Mono Regular"/>
                <a:sym typeface="SF Mono Regular"/>
              </a:defRPr>
            </a:pPr>
            <a:r>
              <a:t>module unload &lt;name_of_software&gt;</a:t>
            </a:r>
          </a:p>
          <a:p>
            <a:pPr marL="566927" indent="-566927" defTabSz="2267655">
              <a:spcBef>
                <a:spcPts val="4100"/>
              </a:spcBef>
              <a:defRPr sz="4464"/>
            </a:pPr>
            <a:r>
              <a:t>To request any additions to the software list contact the digital research team.</a:t>
            </a:r>
          </a:p>
        </p:txBody>
      </p:sp>
      <p:sp>
        <p:nvSpPr>
          <p:cNvPr id="236" name="Software"/>
          <p:cNvSpPr txBox="1"/>
          <p:nvPr/>
        </p:nvSpPr>
        <p:spPr>
          <a:xfrm>
            <a:off x="1206500" y="2245962"/>
            <a:ext cx="9779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sz="5500" b="1"/>
            </a:lvl1pPr>
          </a:lstStyle>
          <a:p>
            <a:r>
              <a:t>Software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Using Maxwel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Using Maxwell</a:t>
            </a:r>
          </a:p>
        </p:txBody>
      </p:sp>
      <p:sp>
        <p:nvSpPr>
          <p:cNvPr id="239" name="In may cases it can be easier to install your own packages in a virtual environment…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21782454" cy="825601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In may cases it can be easier to install your own packages in a virtual environment</a:t>
            </a:r>
            <a:endParaRPr sz="1200"/>
          </a:p>
          <a:p>
            <a:pPr marL="0" indent="0">
              <a:buSzTx/>
              <a:buNone/>
            </a:pPr>
            <a:endParaRPr sz="1200"/>
          </a:p>
          <a:p>
            <a:pPr marL="0" indent="0">
              <a:buSzTx/>
              <a:buNone/>
            </a:pPr>
            <a:r>
              <a:t>For data science workflows that employ Python or R, Anaconda is available.</a:t>
            </a:r>
            <a:endParaRPr sz="1200"/>
          </a:p>
          <a:p>
            <a:r>
              <a:t>Create personal environments.</a:t>
            </a:r>
            <a:endParaRPr sz="1200"/>
          </a:p>
          <a:p>
            <a:r>
              <a:t>Install any python packages and libraries via conda.</a:t>
            </a:r>
            <a:endParaRPr sz="1200"/>
          </a:p>
          <a:p>
            <a:r>
              <a:t>Manage different environments for different projects.</a:t>
            </a:r>
          </a:p>
        </p:txBody>
      </p:sp>
      <p:sp>
        <p:nvSpPr>
          <p:cNvPr id="240" name="Creating Environments (1/2)"/>
          <p:cNvSpPr txBox="1"/>
          <p:nvPr/>
        </p:nvSpPr>
        <p:spPr>
          <a:xfrm>
            <a:off x="1206500" y="2245962"/>
            <a:ext cx="9779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sz="5500" b="1"/>
            </a:lvl1pPr>
          </a:lstStyle>
          <a:p>
            <a:r>
              <a:t>Creating Environments (1/2)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B. Setting Up Your Environme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A</a:t>
            </a:r>
            <a:r>
              <a:rPr dirty="0"/>
              <a:t>. Setting Up Your Environment 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Using Maxwel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Using Maxwell</a:t>
            </a:r>
          </a:p>
        </p:txBody>
      </p:sp>
      <p:sp>
        <p:nvSpPr>
          <p:cNvPr id="243" name="module load miniconda3…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21782454" cy="825601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657860" indent="-657860" defTabSz="1804370">
              <a:spcBef>
                <a:spcPts val="3300"/>
              </a:spcBef>
              <a:buSzPct val="100000"/>
              <a:buAutoNum type="arabicPeriod"/>
              <a:defRPr sz="3108">
                <a:latin typeface="SF Mono Regular"/>
                <a:ea typeface="SF Mono Regular"/>
                <a:cs typeface="SF Mono Regular"/>
                <a:sym typeface="SF Mono Regular"/>
              </a:defRPr>
            </a:pPr>
            <a:r>
              <a:rPr dirty="0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</a:rPr>
              <a:t>module load miniconda3</a:t>
            </a:r>
          </a:p>
          <a:p>
            <a:pPr marL="657860" indent="-657860" defTabSz="1804370">
              <a:spcBef>
                <a:spcPts val="3300"/>
              </a:spcBef>
              <a:buSzPct val="100000"/>
              <a:buAutoNum type="arabicPeriod"/>
              <a:defRPr sz="3108">
                <a:latin typeface="SF Mono Regular"/>
                <a:ea typeface="SF Mono Regular"/>
                <a:cs typeface="SF Mono Regular"/>
                <a:sym typeface="SF Mono Regular"/>
              </a:defRPr>
            </a:pPr>
            <a:r>
              <a:rPr lang="en-GB" dirty="0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</a:rPr>
              <a:t>c</a:t>
            </a:r>
            <a:r>
              <a:rPr dirty="0" err="1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</a:rPr>
              <a:t>onda</a:t>
            </a:r>
            <a:r>
              <a:rPr dirty="0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</a:rPr>
              <a:t> </a:t>
            </a:r>
            <a:r>
              <a:rPr dirty="0" err="1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</a:rPr>
              <a:t>init</a:t>
            </a:r>
            <a:r>
              <a:rPr dirty="0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</a:rPr>
              <a:t> </a:t>
            </a:r>
          </a:p>
          <a:p>
            <a:pPr marL="657860" indent="-657860" defTabSz="1804370">
              <a:spcBef>
                <a:spcPts val="3300"/>
              </a:spcBef>
              <a:buSzPct val="100000"/>
              <a:buAutoNum type="arabicPeriod"/>
              <a:defRPr sz="3108">
                <a:latin typeface="SF Mono Regular"/>
                <a:ea typeface="SF Mono Regular"/>
                <a:cs typeface="SF Mono Regular"/>
                <a:sym typeface="SF Mono Regular"/>
              </a:defRPr>
            </a:pPr>
            <a:r>
              <a:rPr dirty="0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</a:rPr>
              <a:t>source ~/.</a:t>
            </a:r>
            <a:r>
              <a:rPr dirty="0" err="1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</a:rPr>
              <a:t>bashrc</a:t>
            </a:r>
            <a:r>
              <a:rPr dirty="0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</a:rPr>
              <a:t> </a:t>
            </a:r>
          </a:p>
          <a:p>
            <a:pPr marL="657860" indent="-657860" defTabSz="1804370">
              <a:spcBef>
                <a:spcPts val="3300"/>
              </a:spcBef>
              <a:buSzPct val="100000"/>
              <a:buAutoNum type="arabicPeriod"/>
              <a:defRPr sz="3108">
                <a:latin typeface="SF Mono Regular"/>
                <a:ea typeface="SF Mono Regular"/>
                <a:cs typeface="SF Mono Regular"/>
                <a:sym typeface="SF Mono Regular"/>
              </a:defRPr>
            </a:pPr>
            <a:r>
              <a:rPr dirty="0" err="1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</a:rPr>
              <a:t>conda</a:t>
            </a:r>
            <a:r>
              <a:rPr dirty="0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</a:rPr>
              <a:t> create -n &lt;</a:t>
            </a:r>
            <a:r>
              <a:rPr dirty="0" err="1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</a:rPr>
              <a:t>your_env_name</a:t>
            </a:r>
            <a:r>
              <a:rPr dirty="0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</a:rPr>
              <a:t>&gt; python=3.12</a:t>
            </a:r>
            <a:endParaRPr sz="888" dirty="0"/>
          </a:p>
          <a:p>
            <a:pPr marL="0" indent="0" defTabSz="1804370">
              <a:spcBef>
                <a:spcPts val="3300"/>
              </a:spcBef>
              <a:buSzTx/>
              <a:buNone/>
              <a:defRPr sz="3552"/>
            </a:pPr>
            <a:r>
              <a:rPr b="1" dirty="0"/>
              <a:t>Note:</a:t>
            </a:r>
            <a:r>
              <a:rPr dirty="0"/>
              <a:t> For first time installs you will be prompted to configure your shell, run the command `</a:t>
            </a:r>
            <a:r>
              <a:rPr dirty="0" err="1"/>
              <a:t>conda</a:t>
            </a:r>
            <a:r>
              <a:rPr dirty="0"/>
              <a:t> </a:t>
            </a:r>
            <a:r>
              <a:rPr dirty="0" err="1"/>
              <a:t>init</a:t>
            </a:r>
            <a:r>
              <a:rPr dirty="0"/>
              <a:t> bash` and then exit / close the terminal, ssh back into maxwell and load the miniconda3 module to continue.</a:t>
            </a:r>
          </a:p>
          <a:p>
            <a:pPr marL="657860" indent="-657860" defTabSz="1804370">
              <a:spcBef>
                <a:spcPts val="3300"/>
              </a:spcBef>
              <a:buSzPct val="100000"/>
              <a:buAutoNum type="arabicPeriod" startAt="3"/>
              <a:defRPr sz="3108">
                <a:latin typeface="SF Mono Regular"/>
                <a:ea typeface="SF Mono Regular"/>
                <a:cs typeface="SF Mono Regular"/>
                <a:sym typeface="SF Mono Regular"/>
              </a:defRPr>
            </a:pPr>
            <a:r>
              <a:rPr dirty="0" err="1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</a:rPr>
              <a:t>conda</a:t>
            </a:r>
            <a:r>
              <a:rPr dirty="0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</a:rPr>
              <a:t> activate &lt;</a:t>
            </a:r>
            <a:r>
              <a:rPr dirty="0" err="1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</a:rPr>
              <a:t>your_env_name</a:t>
            </a:r>
            <a:r>
              <a:rPr dirty="0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</a:rPr>
              <a:t>&gt;</a:t>
            </a:r>
            <a:endParaRPr lang="en-GB" dirty="0">
              <a:solidFill>
                <a:schemeClr val="accent3">
                  <a:hueOff val="-385756"/>
                  <a:satOff val="-32155"/>
                  <a:lumOff val="17967"/>
                </a:schemeClr>
              </a:solidFill>
            </a:endParaRPr>
          </a:p>
          <a:p>
            <a:pPr marL="657860" indent="-657860" defTabSz="1804370">
              <a:spcBef>
                <a:spcPts val="3300"/>
              </a:spcBef>
              <a:buSzPct val="100000"/>
              <a:buAutoNum type="arabicPeriod" startAt="3"/>
              <a:defRPr sz="3108">
                <a:latin typeface="SF Mono Regular"/>
                <a:ea typeface="SF Mono Regular"/>
                <a:cs typeface="SF Mono Regular"/>
                <a:sym typeface="SF Mono Regular"/>
              </a:defRPr>
            </a:pPr>
            <a:r>
              <a:rPr lang="en-GB" dirty="0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</a:rPr>
              <a:t>pip install torch </a:t>
            </a:r>
            <a:r>
              <a:rPr lang="en-GB" dirty="0" err="1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</a:rPr>
              <a:t>torchvision</a:t>
            </a:r>
            <a:r>
              <a:rPr lang="en-GB" dirty="0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</a:rPr>
              <a:t> </a:t>
            </a:r>
            <a:r>
              <a:rPr lang="en-GB" dirty="0" err="1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</a:rPr>
              <a:t>torchaudio</a:t>
            </a:r>
            <a:r>
              <a:rPr lang="en-GB" dirty="0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</a:rPr>
              <a:t> --index-</a:t>
            </a:r>
            <a:r>
              <a:rPr lang="en-GB" dirty="0" err="1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</a:rPr>
              <a:t>url</a:t>
            </a:r>
            <a:r>
              <a:rPr lang="en-GB" dirty="0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</a:rPr>
              <a:t> </a:t>
            </a:r>
            <a:r>
              <a:rPr lang="en-GB" dirty="0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  <a:hlinkClick r:id="rId2"/>
              </a:rPr>
              <a:t>https://download.pytorch.org/whl/cu124</a:t>
            </a:r>
            <a:endParaRPr lang="en-GB" dirty="0">
              <a:solidFill>
                <a:schemeClr val="accent3">
                  <a:hueOff val="-385756"/>
                  <a:satOff val="-32155"/>
                  <a:lumOff val="17967"/>
                </a:schemeClr>
              </a:solidFill>
            </a:endParaRPr>
          </a:p>
          <a:p>
            <a:pPr marL="657860" indent="-657860" defTabSz="1804370">
              <a:spcBef>
                <a:spcPts val="3300"/>
              </a:spcBef>
              <a:buSzPct val="100000"/>
              <a:buAutoNum type="arabicPeriod" startAt="3"/>
              <a:defRPr sz="3108">
                <a:latin typeface="SF Mono Regular"/>
                <a:ea typeface="SF Mono Regular"/>
                <a:cs typeface="SF Mono Regular"/>
                <a:sym typeface="SF Mono Regular"/>
              </a:defRPr>
            </a:pPr>
            <a:r>
              <a:rPr lang="en-GB" dirty="0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</a:rPr>
              <a:t>pip install </a:t>
            </a:r>
            <a:r>
              <a:rPr lang="en-GB" dirty="0" err="1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</a:rPr>
              <a:t>tqdm</a:t>
            </a:r>
            <a:endParaRPr dirty="0">
              <a:solidFill>
                <a:schemeClr val="accent3">
                  <a:hueOff val="-385756"/>
                  <a:satOff val="-32155"/>
                  <a:lumOff val="17967"/>
                </a:schemeClr>
              </a:solidFill>
            </a:endParaRPr>
          </a:p>
        </p:txBody>
      </p:sp>
      <p:sp>
        <p:nvSpPr>
          <p:cNvPr id="244" name="Creating Environments (2/2)"/>
          <p:cNvSpPr txBox="1"/>
          <p:nvPr/>
        </p:nvSpPr>
        <p:spPr>
          <a:xfrm>
            <a:off x="1206500" y="2245962"/>
            <a:ext cx="9779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sz="5500" b="1"/>
            </a:lvl1pPr>
          </a:lstStyle>
          <a:p>
            <a:r>
              <a:t>Creating Environments (2/2)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Exercise:…"/>
          <p:cNvSpPr txBox="1">
            <a:spLocks noGrp="1"/>
          </p:cNvSpPr>
          <p:nvPr>
            <p:ph type="body" idx="1"/>
          </p:nvPr>
        </p:nvSpPr>
        <p:spPr>
          <a:xfrm>
            <a:off x="1206500" y="1778692"/>
            <a:ext cx="21971000" cy="10158616"/>
          </a:xfrm>
          <a:prstGeom prst="rect">
            <a:avLst/>
          </a:prstGeom>
        </p:spPr>
        <p:txBody>
          <a:bodyPr/>
          <a:lstStyle/>
          <a:p>
            <a:pPr defTabSz="2340805">
              <a:defRPr sz="11136" spc="-222"/>
            </a:pPr>
            <a:r>
              <a:t>Exercise:</a:t>
            </a:r>
          </a:p>
          <a:p>
            <a:pPr defTabSz="2340805">
              <a:defRPr sz="11136" spc="-222"/>
            </a:pPr>
            <a:endParaRPr/>
          </a:p>
          <a:p>
            <a:pPr defTabSz="2340805">
              <a:defRPr sz="11136" spc="-222"/>
            </a:pPr>
            <a:r>
              <a:t>1. Now create yourself a Conda environment</a:t>
            </a:r>
          </a:p>
          <a:p>
            <a:pPr defTabSz="2340805">
              <a:defRPr sz="11136" spc="-222"/>
            </a:pPr>
            <a:endParaRPr/>
          </a:p>
          <a:p>
            <a:pPr defTabSz="2340805">
              <a:defRPr sz="11136" spc="-222"/>
            </a:pPr>
            <a:r>
              <a:t>2. Install your necessary Python packages 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LUR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SLURM</a:t>
            </a:r>
          </a:p>
        </p:txBody>
      </p:sp>
      <p:sp>
        <p:nvSpPr>
          <p:cNvPr id="249" name="Workload Manager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t>Workload Manager</a:t>
            </a:r>
          </a:p>
        </p:txBody>
      </p:sp>
      <p:sp>
        <p:nvSpPr>
          <p:cNvPr id="250" name="SLURM is an open source, fault-tolerant, and highly scalable cluster management and job scheduling system for large and small Linux clusters.…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21782454" cy="8256012"/>
          </a:xfrm>
          <a:prstGeom prst="rect">
            <a:avLst/>
          </a:prstGeom>
        </p:spPr>
        <p:txBody>
          <a:bodyPr/>
          <a:lstStyle/>
          <a:p>
            <a:pPr marL="0" indent="0" defTabSz="2096971">
              <a:spcBef>
                <a:spcPts val="3800"/>
              </a:spcBef>
              <a:buSzTx/>
              <a:buNone/>
              <a:defRPr sz="4128"/>
            </a:pPr>
            <a:r>
              <a:t>SLURM is an open source, fault-tolerant, and highly scalable cluster management and job scheduling system for large and small Linux clusters.</a:t>
            </a:r>
            <a:endParaRPr sz="1032"/>
          </a:p>
          <a:p>
            <a:pPr marL="0" indent="0" defTabSz="2096971">
              <a:spcBef>
                <a:spcPts val="3800"/>
              </a:spcBef>
              <a:buSzTx/>
              <a:buNone/>
              <a:defRPr sz="4128" b="1"/>
            </a:pPr>
            <a:r>
              <a:t>SLURM Purpose:</a:t>
            </a:r>
            <a:endParaRPr sz="1032"/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t>Allocation of resources to users for some period of time.</a:t>
            </a:r>
            <a:endParaRPr sz="1032"/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t>Provides a framework for starting, executing, and monitoring work.</a:t>
            </a:r>
            <a:endParaRPr sz="1032"/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t>Manages a queue of pending work.</a:t>
            </a:r>
            <a:endParaRPr sz="1032"/>
          </a:p>
          <a:p>
            <a:pPr marL="0" indent="0" defTabSz="2096971">
              <a:spcBef>
                <a:spcPts val="3800"/>
              </a:spcBef>
              <a:buSzTx/>
              <a:buNone/>
              <a:defRPr sz="4128" b="1"/>
            </a:pPr>
            <a:r>
              <a:t>The short of it:</a:t>
            </a:r>
            <a:endParaRPr sz="1032"/>
          </a:p>
          <a:p>
            <a:pPr marL="0" indent="0" defTabSz="2096971">
              <a:spcBef>
                <a:spcPts val="3800"/>
              </a:spcBef>
              <a:buSzTx/>
              <a:buNone/>
              <a:defRPr sz="4128"/>
            </a:pPr>
            <a:r>
              <a:t>You interface with the home node, which in-turn communicates with compute nodes to execute your code.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Rectangle"/>
          <p:cNvSpPr/>
          <p:nvPr/>
        </p:nvSpPr>
        <p:spPr>
          <a:xfrm>
            <a:off x="6844484" y="8034954"/>
            <a:ext cx="3847109" cy="4307020"/>
          </a:xfrm>
          <a:prstGeom prst="rect">
            <a:avLst/>
          </a:prstGeom>
          <a:ln w="508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253" name="Image" descr="Image"/>
          <p:cNvPicPr>
            <a:picLocks noChangeAspect="1"/>
          </p:cNvPicPr>
          <p:nvPr/>
        </p:nvPicPr>
        <p:blipFill>
          <a:blip r:embed="rId2"/>
          <a:srcRect l="24845" t="22333" r="20654" b="20141"/>
          <a:stretch>
            <a:fillRect/>
          </a:stretch>
        </p:blipFill>
        <p:spPr>
          <a:xfrm>
            <a:off x="15017777" y="2312948"/>
            <a:ext cx="2489382" cy="2627542"/>
          </a:xfrm>
          <a:prstGeom prst="rect">
            <a:avLst/>
          </a:prstGeom>
          <a:ln w="12700">
            <a:miter lim="400000"/>
          </a:ln>
        </p:spPr>
      </p:pic>
      <p:pic>
        <p:nvPicPr>
          <p:cNvPr id="254" name="Image" descr="Image"/>
          <p:cNvPicPr>
            <a:picLocks noChangeAspect="1"/>
          </p:cNvPicPr>
          <p:nvPr/>
        </p:nvPicPr>
        <p:blipFill>
          <a:blip r:embed="rId2"/>
          <a:srcRect l="24845" t="22333" r="20654" b="20141"/>
          <a:stretch>
            <a:fillRect/>
          </a:stretch>
        </p:blipFill>
        <p:spPr>
          <a:xfrm>
            <a:off x="17674511" y="4988454"/>
            <a:ext cx="2489382" cy="2627542"/>
          </a:xfrm>
          <a:prstGeom prst="rect">
            <a:avLst/>
          </a:prstGeom>
          <a:ln w="12700">
            <a:miter lim="400000"/>
          </a:ln>
        </p:spPr>
      </p:pic>
      <p:pic>
        <p:nvPicPr>
          <p:cNvPr id="255" name="Image" descr="Image"/>
          <p:cNvPicPr>
            <a:picLocks noChangeAspect="1"/>
          </p:cNvPicPr>
          <p:nvPr/>
        </p:nvPicPr>
        <p:blipFill>
          <a:blip r:embed="rId2"/>
          <a:srcRect l="24845" t="22333" r="20654" b="20141"/>
          <a:stretch>
            <a:fillRect/>
          </a:stretch>
        </p:blipFill>
        <p:spPr>
          <a:xfrm>
            <a:off x="12339044" y="-300671"/>
            <a:ext cx="2489383" cy="2627542"/>
          </a:xfrm>
          <a:prstGeom prst="rect">
            <a:avLst/>
          </a:prstGeom>
          <a:ln w="12700">
            <a:miter lim="400000"/>
          </a:ln>
        </p:spPr>
      </p:pic>
      <p:sp>
        <p:nvSpPr>
          <p:cNvPr id="256" name="Shape"/>
          <p:cNvSpPr/>
          <p:nvPr/>
        </p:nvSpPr>
        <p:spPr>
          <a:xfrm>
            <a:off x="16970157" y="4333405"/>
            <a:ext cx="3897909" cy="39378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ln w="508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57" name="Shape"/>
          <p:cNvSpPr/>
          <p:nvPr/>
        </p:nvSpPr>
        <p:spPr>
          <a:xfrm>
            <a:off x="14319312" y="1657899"/>
            <a:ext cx="3897908" cy="39378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ln w="508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58" name="Shape"/>
          <p:cNvSpPr/>
          <p:nvPr/>
        </p:nvSpPr>
        <p:spPr>
          <a:xfrm>
            <a:off x="11634691" y="-955719"/>
            <a:ext cx="3897909" cy="39378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ln w="508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59" name="SLUR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SLURM</a:t>
            </a:r>
          </a:p>
        </p:txBody>
      </p:sp>
      <p:pic>
        <p:nvPicPr>
          <p:cNvPr id="260" name="Image" descr="Image"/>
          <p:cNvPicPr>
            <a:picLocks noChangeAspect="1"/>
          </p:cNvPicPr>
          <p:nvPr/>
        </p:nvPicPr>
        <p:blipFill>
          <a:blip r:embed="rId3"/>
          <a:srcRect l="9427" t="10824" r="10608" b="9224"/>
          <a:stretch>
            <a:fillRect/>
          </a:stretch>
        </p:blipFill>
        <p:spPr>
          <a:xfrm>
            <a:off x="7218037" y="9019699"/>
            <a:ext cx="3100003" cy="30995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73" h="21474" extrusionOk="0">
                <a:moveTo>
                  <a:pt x="11028" y="11"/>
                </a:moveTo>
                <a:cubicBezTo>
                  <a:pt x="8841" y="-87"/>
                  <a:pt x="6694" y="478"/>
                  <a:pt x="4901" y="1658"/>
                </a:cubicBezTo>
                <a:cubicBezTo>
                  <a:pt x="4229" y="2101"/>
                  <a:pt x="4244" y="2091"/>
                  <a:pt x="3509" y="2717"/>
                </a:cubicBezTo>
                <a:cubicBezTo>
                  <a:pt x="2995" y="3155"/>
                  <a:pt x="2276" y="4001"/>
                  <a:pt x="1788" y="4740"/>
                </a:cubicBezTo>
                <a:cubicBezTo>
                  <a:pt x="-44" y="7520"/>
                  <a:pt x="-495" y="11002"/>
                  <a:pt x="561" y="14215"/>
                </a:cubicBezTo>
                <a:cubicBezTo>
                  <a:pt x="770" y="14854"/>
                  <a:pt x="1332" y="16034"/>
                  <a:pt x="1667" y="16536"/>
                </a:cubicBezTo>
                <a:cubicBezTo>
                  <a:pt x="1779" y="16704"/>
                  <a:pt x="1966" y="16991"/>
                  <a:pt x="2082" y="17171"/>
                </a:cubicBezTo>
                <a:cubicBezTo>
                  <a:pt x="2413" y="17682"/>
                  <a:pt x="3933" y="19171"/>
                  <a:pt x="4556" y="19596"/>
                </a:cubicBezTo>
                <a:cubicBezTo>
                  <a:pt x="5046" y="19930"/>
                  <a:pt x="6422" y="20666"/>
                  <a:pt x="6849" y="20822"/>
                </a:cubicBezTo>
                <a:cubicBezTo>
                  <a:pt x="7573" y="21087"/>
                  <a:pt x="8102" y="21229"/>
                  <a:pt x="8789" y="21339"/>
                </a:cubicBezTo>
                <a:cubicBezTo>
                  <a:pt x="9091" y="21388"/>
                  <a:pt x="9387" y="21440"/>
                  <a:pt x="9447" y="21455"/>
                </a:cubicBezTo>
                <a:cubicBezTo>
                  <a:pt x="9688" y="21513"/>
                  <a:pt x="12000" y="21426"/>
                  <a:pt x="12377" y="21345"/>
                </a:cubicBezTo>
                <a:cubicBezTo>
                  <a:pt x="13380" y="21130"/>
                  <a:pt x="13520" y="21090"/>
                  <a:pt x="14317" y="20778"/>
                </a:cubicBezTo>
                <a:cubicBezTo>
                  <a:pt x="15759" y="20215"/>
                  <a:pt x="16805" y="19511"/>
                  <a:pt x="17981" y="18318"/>
                </a:cubicBezTo>
                <a:cubicBezTo>
                  <a:pt x="19404" y="16873"/>
                  <a:pt x="20289" y="15327"/>
                  <a:pt x="20757" y="13470"/>
                </a:cubicBezTo>
                <a:cubicBezTo>
                  <a:pt x="21033" y="12372"/>
                  <a:pt x="21105" y="11646"/>
                  <a:pt x="21062" y="10388"/>
                </a:cubicBezTo>
                <a:cubicBezTo>
                  <a:pt x="21021" y="9204"/>
                  <a:pt x="20980" y="8899"/>
                  <a:pt x="20689" y="7762"/>
                </a:cubicBezTo>
                <a:cubicBezTo>
                  <a:pt x="20440" y="6788"/>
                  <a:pt x="19812" y="5466"/>
                  <a:pt x="19130" y="4482"/>
                </a:cubicBezTo>
                <a:cubicBezTo>
                  <a:pt x="18510" y="3587"/>
                  <a:pt x="17136" y="2242"/>
                  <a:pt x="16292" y="1705"/>
                </a:cubicBezTo>
                <a:cubicBezTo>
                  <a:pt x="15288" y="1065"/>
                  <a:pt x="14193" y="577"/>
                  <a:pt x="13219" y="333"/>
                </a:cubicBezTo>
                <a:cubicBezTo>
                  <a:pt x="12493" y="151"/>
                  <a:pt x="11757" y="44"/>
                  <a:pt x="11028" y="11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61" name="Rectangle"/>
          <p:cNvSpPr/>
          <p:nvPr/>
        </p:nvSpPr>
        <p:spPr>
          <a:xfrm>
            <a:off x="6844484" y="8034954"/>
            <a:ext cx="3847109" cy="4307020"/>
          </a:xfrm>
          <a:prstGeom prst="rect">
            <a:avLst/>
          </a:prstGeom>
          <a:ln w="50800">
            <a:solidFill>
              <a:schemeClr val="accent3">
                <a:hueOff val="-385756"/>
                <a:satOff val="-32155"/>
                <a:lumOff val="17967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62" name="SLURM"/>
          <p:cNvSpPr txBox="1"/>
          <p:nvPr/>
        </p:nvSpPr>
        <p:spPr>
          <a:xfrm>
            <a:off x="7649574" y="8168865"/>
            <a:ext cx="223692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SLURM</a:t>
            </a:r>
          </a:p>
        </p:txBody>
      </p:sp>
      <p:sp>
        <p:nvSpPr>
          <p:cNvPr id="263" name="Shape"/>
          <p:cNvSpPr/>
          <p:nvPr/>
        </p:nvSpPr>
        <p:spPr>
          <a:xfrm>
            <a:off x="14324423" y="1652356"/>
            <a:ext cx="3897909" cy="39378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ln w="50800">
            <a:solidFill>
              <a:schemeClr val="accent3">
                <a:hueOff val="-385756"/>
                <a:satOff val="-32155"/>
                <a:lumOff val="17967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64" name="Shape"/>
          <p:cNvSpPr/>
          <p:nvPr/>
        </p:nvSpPr>
        <p:spPr>
          <a:xfrm>
            <a:off x="19565005" y="6947024"/>
            <a:ext cx="3897909" cy="39378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ln w="508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65" name="Head with Shoulders"/>
          <p:cNvSpPr/>
          <p:nvPr/>
        </p:nvSpPr>
        <p:spPr>
          <a:xfrm>
            <a:off x="1359699" y="3977179"/>
            <a:ext cx="1353987" cy="11730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66" name="Rectangle"/>
          <p:cNvSpPr/>
          <p:nvPr/>
        </p:nvSpPr>
        <p:spPr>
          <a:xfrm>
            <a:off x="6844484" y="3521293"/>
            <a:ext cx="3847109" cy="4307020"/>
          </a:xfrm>
          <a:prstGeom prst="rect">
            <a:avLst/>
          </a:prstGeom>
          <a:ln w="508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67" name="DATA"/>
          <p:cNvSpPr txBox="1"/>
          <p:nvPr/>
        </p:nvSpPr>
        <p:spPr>
          <a:xfrm>
            <a:off x="7982416" y="3678110"/>
            <a:ext cx="157124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DATA</a:t>
            </a:r>
          </a:p>
        </p:txBody>
      </p:sp>
      <p:pic>
        <p:nvPicPr>
          <p:cNvPr id="268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9288" y="4671469"/>
            <a:ext cx="2857501" cy="2857501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User 1"/>
          <p:cNvSpPr txBox="1"/>
          <p:nvPr/>
        </p:nvSpPr>
        <p:spPr>
          <a:xfrm>
            <a:off x="1087698" y="5220099"/>
            <a:ext cx="1897990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User 1</a:t>
            </a:r>
          </a:p>
        </p:txBody>
      </p:sp>
      <p:pic>
        <p:nvPicPr>
          <p:cNvPr id="270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76339" y="7878307"/>
            <a:ext cx="2075241" cy="2075241"/>
          </a:xfrm>
          <a:prstGeom prst="rect">
            <a:avLst/>
          </a:prstGeom>
          <a:ln w="12700">
            <a:miter lim="400000"/>
          </a:ln>
        </p:spPr>
      </p:pic>
      <p:sp>
        <p:nvSpPr>
          <p:cNvPr id="271" name="Shape"/>
          <p:cNvSpPr/>
          <p:nvPr/>
        </p:nvSpPr>
        <p:spPr>
          <a:xfrm>
            <a:off x="16968457" y="4327862"/>
            <a:ext cx="3897909" cy="39378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ln w="50800">
            <a:solidFill>
              <a:schemeClr val="accent3">
                <a:hueOff val="-385756"/>
                <a:satOff val="-32155"/>
                <a:lumOff val="17967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72" name="Shape"/>
          <p:cNvSpPr/>
          <p:nvPr/>
        </p:nvSpPr>
        <p:spPr>
          <a:xfrm>
            <a:off x="22162616" y="4333405"/>
            <a:ext cx="3897909" cy="39378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ln w="508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273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73949" y="5264688"/>
            <a:ext cx="2075241" cy="2075241"/>
          </a:xfrm>
          <a:prstGeom prst="rect">
            <a:avLst/>
          </a:prstGeom>
          <a:ln w="12700">
            <a:miter lim="400000"/>
          </a:ln>
        </p:spPr>
      </p:pic>
      <p:sp>
        <p:nvSpPr>
          <p:cNvPr id="274" name="Shape"/>
          <p:cNvSpPr/>
          <p:nvPr/>
        </p:nvSpPr>
        <p:spPr>
          <a:xfrm>
            <a:off x="19565005" y="1657899"/>
            <a:ext cx="3897909" cy="39378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ln w="508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275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76339" y="2589182"/>
            <a:ext cx="2075241" cy="2075241"/>
          </a:xfrm>
          <a:prstGeom prst="rect">
            <a:avLst/>
          </a:prstGeom>
          <a:ln w="12700">
            <a:miter lim="400000"/>
          </a:ln>
        </p:spPr>
      </p:pic>
      <p:sp>
        <p:nvSpPr>
          <p:cNvPr id="276" name="Shape"/>
          <p:cNvSpPr/>
          <p:nvPr/>
        </p:nvSpPr>
        <p:spPr>
          <a:xfrm>
            <a:off x="22162616" y="-955719"/>
            <a:ext cx="3897909" cy="39378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ln w="508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277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73949" y="-24437"/>
            <a:ext cx="2075241" cy="2075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8" name="Image" descr="Image"/>
          <p:cNvPicPr>
            <a:picLocks noChangeAspect="1"/>
          </p:cNvPicPr>
          <p:nvPr/>
        </p:nvPicPr>
        <p:blipFill>
          <a:blip r:embed="rId2"/>
          <a:srcRect l="24845" t="22333" r="20654" b="20141"/>
          <a:stretch>
            <a:fillRect/>
          </a:stretch>
        </p:blipFill>
        <p:spPr>
          <a:xfrm>
            <a:off x="17674511" y="-300671"/>
            <a:ext cx="2489382" cy="2627542"/>
          </a:xfrm>
          <a:prstGeom prst="rect">
            <a:avLst/>
          </a:prstGeom>
          <a:ln w="12700">
            <a:miter lim="400000"/>
          </a:ln>
        </p:spPr>
      </p:pic>
      <p:sp>
        <p:nvSpPr>
          <p:cNvPr id="279" name="Shape"/>
          <p:cNvSpPr/>
          <p:nvPr/>
        </p:nvSpPr>
        <p:spPr>
          <a:xfrm>
            <a:off x="16970157" y="-955719"/>
            <a:ext cx="3897909" cy="39378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ln w="508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80" name="Shape"/>
          <p:cNvSpPr/>
          <p:nvPr/>
        </p:nvSpPr>
        <p:spPr>
          <a:xfrm>
            <a:off x="11632990" y="-948563"/>
            <a:ext cx="3897909" cy="39378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ln w="50800">
            <a:solidFill>
              <a:schemeClr val="accent3">
                <a:hueOff val="-385756"/>
                <a:satOff val="-32155"/>
                <a:lumOff val="17967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81" name="Shape"/>
          <p:cNvSpPr/>
          <p:nvPr/>
        </p:nvSpPr>
        <p:spPr>
          <a:xfrm>
            <a:off x="22162616" y="9622530"/>
            <a:ext cx="3897909" cy="39378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ln w="508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pic>
        <p:nvPicPr>
          <p:cNvPr id="282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73949" y="10553813"/>
            <a:ext cx="2075241" cy="2075241"/>
          </a:xfrm>
          <a:prstGeom prst="rect">
            <a:avLst/>
          </a:prstGeom>
          <a:ln w="12700">
            <a:miter lim="400000"/>
          </a:ln>
        </p:spPr>
      </p:pic>
      <p:sp>
        <p:nvSpPr>
          <p:cNvPr id="283" name="Head with Shoulders"/>
          <p:cNvSpPr/>
          <p:nvPr/>
        </p:nvSpPr>
        <p:spPr>
          <a:xfrm>
            <a:off x="1359699" y="7025590"/>
            <a:ext cx="1353987" cy="11730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84" name="User 2"/>
          <p:cNvSpPr txBox="1"/>
          <p:nvPr/>
        </p:nvSpPr>
        <p:spPr>
          <a:xfrm>
            <a:off x="1087698" y="8268510"/>
            <a:ext cx="1897990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User 2</a:t>
            </a:r>
          </a:p>
        </p:txBody>
      </p:sp>
      <p:sp>
        <p:nvSpPr>
          <p:cNvPr id="285" name="Head with Shoulders"/>
          <p:cNvSpPr/>
          <p:nvPr/>
        </p:nvSpPr>
        <p:spPr>
          <a:xfrm>
            <a:off x="1359699" y="10074001"/>
            <a:ext cx="1353987" cy="11730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1" y="0"/>
                </a:moveTo>
                <a:cubicBezTo>
                  <a:pt x="8419" y="0"/>
                  <a:pt x="7041" y="1374"/>
                  <a:pt x="6553" y="3337"/>
                </a:cubicBezTo>
                <a:cubicBezTo>
                  <a:pt x="6322" y="4269"/>
                  <a:pt x="6312" y="5365"/>
                  <a:pt x="6383" y="6556"/>
                </a:cubicBezTo>
                <a:cubicBezTo>
                  <a:pt x="6251" y="6550"/>
                  <a:pt x="6103" y="6550"/>
                  <a:pt x="5944" y="6556"/>
                </a:cubicBezTo>
                <a:cubicBezTo>
                  <a:pt x="5170" y="6600"/>
                  <a:pt x="5740" y="8660"/>
                  <a:pt x="6261" y="9870"/>
                </a:cubicBezTo>
                <a:cubicBezTo>
                  <a:pt x="6371" y="10117"/>
                  <a:pt x="6602" y="10060"/>
                  <a:pt x="6700" y="10028"/>
                </a:cubicBezTo>
                <a:cubicBezTo>
                  <a:pt x="6898" y="12074"/>
                  <a:pt x="7173" y="12688"/>
                  <a:pt x="7865" y="13587"/>
                </a:cubicBezTo>
                <a:lnTo>
                  <a:pt x="7853" y="14563"/>
                </a:lnTo>
                <a:cubicBezTo>
                  <a:pt x="7836" y="15893"/>
                  <a:pt x="7177" y="16995"/>
                  <a:pt x="6102" y="17704"/>
                </a:cubicBezTo>
                <a:cubicBezTo>
                  <a:pt x="6014" y="17761"/>
                  <a:pt x="5927" y="17818"/>
                  <a:pt x="5839" y="17863"/>
                </a:cubicBezTo>
                <a:cubicBezTo>
                  <a:pt x="5335" y="18148"/>
                  <a:pt x="4780" y="18293"/>
                  <a:pt x="4221" y="18318"/>
                </a:cubicBezTo>
                <a:cubicBezTo>
                  <a:pt x="1630" y="18457"/>
                  <a:pt x="779" y="19820"/>
                  <a:pt x="0" y="21600"/>
                </a:cubicBezTo>
                <a:lnTo>
                  <a:pt x="10801" y="21600"/>
                </a:lnTo>
                <a:lnTo>
                  <a:pt x="21600" y="21600"/>
                </a:lnTo>
                <a:cubicBezTo>
                  <a:pt x="20821" y="19820"/>
                  <a:pt x="19970" y="18457"/>
                  <a:pt x="17379" y="18318"/>
                </a:cubicBezTo>
                <a:cubicBezTo>
                  <a:pt x="16820" y="18286"/>
                  <a:pt x="16260" y="18148"/>
                  <a:pt x="15761" y="17863"/>
                </a:cubicBezTo>
                <a:cubicBezTo>
                  <a:pt x="15678" y="17812"/>
                  <a:pt x="15591" y="17761"/>
                  <a:pt x="15498" y="17704"/>
                </a:cubicBezTo>
                <a:cubicBezTo>
                  <a:pt x="14423" y="16995"/>
                  <a:pt x="13758" y="15893"/>
                  <a:pt x="13747" y="14563"/>
                </a:cubicBezTo>
                <a:lnTo>
                  <a:pt x="13737" y="13587"/>
                </a:lnTo>
                <a:cubicBezTo>
                  <a:pt x="14428" y="12688"/>
                  <a:pt x="14697" y="12074"/>
                  <a:pt x="14900" y="10028"/>
                </a:cubicBezTo>
                <a:cubicBezTo>
                  <a:pt x="14993" y="10066"/>
                  <a:pt x="15229" y="10123"/>
                  <a:pt x="15339" y="9870"/>
                </a:cubicBezTo>
                <a:cubicBezTo>
                  <a:pt x="15865" y="8660"/>
                  <a:pt x="16431" y="6600"/>
                  <a:pt x="15658" y="6556"/>
                </a:cubicBezTo>
                <a:cubicBezTo>
                  <a:pt x="15498" y="6550"/>
                  <a:pt x="15350" y="6543"/>
                  <a:pt x="15219" y="6556"/>
                </a:cubicBezTo>
                <a:cubicBezTo>
                  <a:pt x="15290" y="5371"/>
                  <a:pt x="15283" y="4269"/>
                  <a:pt x="15047" y="3337"/>
                </a:cubicBezTo>
                <a:cubicBezTo>
                  <a:pt x="14559" y="1374"/>
                  <a:pt x="13183" y="0"/>
                  <a:pt x="10801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86" name="User 3"/>
          <p:cNvSpPr txBox="1"/>
          <p:nvPr/>
        </p:nvSpPr>
        <p:spPr>
          <a:xfrm>
            <a:off x="1087698" y="11316921"/>
            <a:ext cx="189799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User 3</a:t>
            </a:r>
          </a:p>
        </p:txBody>
      </p:sp>
      <p:sp>
        <p:nvSpPr>
          <p:cNvPr id="287" name="I want 3 GPU nodes"/>
          <p:cNvSpPr/>
          <p:nvPr/>
        </p:nvSpPr>
        <p:spPr>
          <a:xfrm>
            <a:off x="3332356" y="3495893"/>
            <a:ext cx="2868018" cy="1988377"/>
          </a:xfrm>
          <a:prstGeom prst="wedgeEllipseCallout">
            <a:avLst>
              <a:gd name="adj1" fmla="val -49385"/>
              <a:gd name="adj2" fmla="val 64202"/>
            </a:avLst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I want 3 GPU nodes</a:t>
            </a:r>
          </a:p>
        </p:txBody>
      </p:sp>
      <p:sp>
        <p:nvSpPr>
          <p:cNvPr id="288" name="I want 2 CPU nodes"/>
          <p:cNvSpPr/>
          <p:nvPr/>
        </p:nvSpPr>
        <p:spPr>
          <a:xfrm>
            <a:off x="3332356" y="6476661"/>
            <a:ext cx="2868018" cy="1988377"/>
          </a:xfrm>
          <a:prstGeom prst="wedgeEllipseCallout">
            <a:avLst>
              <a:gd name="adj1" fmla="val -49385"/>
              <a:gd name="adj2" fmla="val 64202"/>
            </a:avLst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I want 2 CPU nodes</a:t>
            </a:r>
          </a:p>
        </p:txBody>
      </p:sp>
      <p:sp>
        <p:nvSpPr>
          <p:cNvPr id="289" name="I want 2 GPU nodes"/>
          <p:cNvSpPr/>
          <p:nvPr/>
        </p:nvSpPr>
        <p:spPr>
          <a:xfrm>
            <a:off x="3332356" y="9434004"/>
            <a:ext cx="2868018" cy="1988378"/>
          </a:xfrm>
          <a:prstGeom prst="wedgeEllipseCallout">
            <a:avLst>
              <a:gd name="adj1" fmla="val -49385"/>
              <a:gd name="adj2" fmla="val 64202"/>
            </a:avLst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I want 2 GPU nodes</a:t>
            </a:r>
          </a:p>
        </p:txBody>
      </p:sp>
      <p:sp>
        <p:nvSpPr>
          <p:cNvPr id="290" name="Shape"/>
          <p:cNvSpPr/>
          <p:nvPr/>
        </p:nvSpPr>
        <p:spPr>
          <a:xfrm>
            <a:off x="19565005" y="6947024"/>
            <a:ext cx="3897909" cy="39378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ln w="50800">
            <a:solidFill>
              <a:schemeClr val="accent3">
                <a:hueOff val="-385756"/>
                <a:satOff val="-32155"/>
                <a:lumOff val="17967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91" name="Shape"/>
          <p:cNvSpPr/>
          <p:nvPr/>
        </p:nvSpPr>
        <p:spPr>
          <a:xfrm>
            <a:off x="22162616" y="9622530"/>
            <a:ext cx="3897909" cy="39378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ln w="50800">
            <a:solidFill>
              <a:schemeClr val="accent3">
                <a:hueOff val="-385756"/>
                <a:satOff val="-32155"/>
                <a:lumOff val="17967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92" name="Rectangle"/>
          <p:cNvSpPr/>
          <p:nvPr/>
        </p:nvSpPr>
        <p:spPr>
          <a:xfrm>
            <a:off x="6844484" y="8034954"/>
            <a:ext cx="3847109" cy="4307020"/>
          </a:xfrm>
          <a:prstGeom prst="rect">
            <a:avLst/>
          </a:prstGeom>
          <a:ln w="508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93" name="Rectangle"/>
          <p:cNvSpPr/>
          <p:nvPr/>
        </p:nvSpPr>
        <p:spPr>
          <a:xfrm>
            <a:off x="6844484" y="8034954"/>
            <a:ext cx="3847109" cy="4307020"/>
          </a:xfrm>
          <a:prstGeom prst="rect">
            <a:avLst/>
          </a:prstGeom>
          <a:ln w="50800">
            <a:solidFill>
              <a:schemeClr val="accent3">
                <a:hueOff val="-385756"/>
                <a:satOff val="-32155"/>
                <a:lumOff val="17967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94" name="Rectangle"/>
          <p:cNvSpPr/>
          <p:nvPr/>
        </p:nvSpPr>
        <p:spPr>
          <a:xfrm>
            <a:off x="6844246" y="8034954"/>
            <a:ext cx="3847109" cy="4307020"/>
          </a:xfrm>
          <a:prstGeom prst="rect">
            <a:avLst/>
          </a:prstGeom>
          <a:ln w="508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95" name="Rectangle"/>
          <p:cNvSpPr/>
          <p:nvPr/>
        </p:nvSpPr>
        <p:spPr>
          <a:xfrm>
            <a:off x="6844246" y="8034954"/>
            <a:ext cx="3847109" cy="4307020"/>
          </a:xfrm>
          <a:prstGeom prst="rect">
            <a:avLst/>
          </a:prstGeom>
          <a:ln w="50800">
            <a:solidFill>
              <a:schemeClr val="accent3">
                <a:hueOff val="-385756"/>
                <a:satOff val="-32155"/>
                <a:lumOff val="17967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96" name="Rectangle"/>
          <p:cNvSpPr/>
          <p:nvPr/>
        </p:nvSpPr>
        <p:spPr>
          <a:xfrm>
            <a:off x="6844246" y="8034954"/>
            <a:ext cx="3847109" cy="4307020"/>
          </a:xfrm>
          <a:prstGeom prst="rect">
            <a:avLst/>
          </a:prstGeom>
          <a:ln w="508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97" name="Shape"/>
          <p:cNvSpPr/>
          <p:nvPr/>
        </p:nvSpPr>
        <p:spPr>
          <a:xfrm>
            <a:off x="16976743" y="-955719"/>
            <a:ext cx="3897909" cy="39378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ln w="50800">
            <a:solidFill>
              <a:schemeClr val="accent4">
                <a:hueOff val="-613784"/>
                <a:lumOff val="1275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98" name="Shape"/>
          <p:cNvSpPr/>
          <p:nvPr/>
        </p:nvSpPr>
        <p:spPr>
          <a:xfrm>
            <a:off x="16964043" y="-961292"/>
            <a:ext cx="3897909" cy="39378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ln w="508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99" name="Multiplication Sign"/>
          <p:cNvSpPr/>
          <p:nvPr/>
        </p:nvSpPr>
        <p:spPr>
          <a:xfrm>
            <a:off x="11556999" y="9553464"/>
            <a:ext cx="1270001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7" h="21577" extrusionOk="0">
                <a:moveTo>
                  <a:pt x="3398" y="1"/>
                </a:moveTo>
                <a:cubicBezTo>
                  <a:pt x="3368" y="1"/>
                  <a:pt x="3338" y="12"/>
                  <a:pt x="3315" y="35"/>
                </a:cubicBezTo>
                <a:lnTo>
                  <a:pt x="35" y="3315"/>
                </a:lnTo>
                <a:cubicBezTo>
                  <a:pt x="-11" y="3361"/>
                  <a:pt x="-11" y="3434"/>
                  <a:pt x="35" y="3480"/>
                </a:cubicBezTo>
                <a:lnTo>
                  <a:pt x="7290" y="10733"/>
                </a:lnTo>
                <a:cubicBezTo>
                  <a:pt x="7320" y="10764"/>
                  <a:pt x="7320" y="10813"/>
                  <a:pt x="7290" y="10843"/>
                </a:cubicBezTo>
                <a:lnTo>
                  <a:pt x="35" y="18098"/>
                </a:lnTo>
                <a:cubicBezTo>
                  <a:pt x="-11" y="18144"/>
                  <a:pt x="-11" y="18217"/>
                  <a:pt x="35" y="18263"/>
                </a:cubicBezTo>
                <a:lnTo>
                  <a:pt x="3315" y="21543"/>
                </a:lnTo>
                <a:cubicBezTo>
                  <a:pt x="3361" y="21589"/>
                  <a:pt x="3434" y="21589"/>
                  <a:pt x="3480" y="21543"/>
                </a:cubicBezTo>
                <a:lnTo>
                  <a:pt x="10733" y="14288"/>
                </a:lnTo>
                <a:cubicBezTo>
                  <a:pt x="10764" y="14258"/>
                  <a:pt x="10814" y="14258"/>
                  <a:pt x="10845" y="14288"/>
                </a:cubicBezTo>
                <a:lnTo>
                  <a:pt x="18098" y="21543"/>
                </a:lnTo>
                <a:cubicBezTo>
                  <a:pt x="18144" y="21589"/>
                  <a:pt x="18217" y="21589"/>
                  <a:pt x="18263" y="21543"/>
                </a:cubicBezTo>
                <a:lnTo>
                  <a:pt x="21543" y="18263"/>
                </a:lnTo>
                <a:cubicBezTo>
                  <a:pt x="21589" y="18217"/>
                  <a:pt x="21589" y="18144"/>
                  <a:pt x="21543" y="18098"/>
                </a:cubicBezTo>
                <a:lnTo>
                  <a:pt x="14288" y="10845"/>
                </a:lnTo>
                <a:cubicBezTo>
                  <a:pt x="14258" y="10814"/>
                  <a:pt x="14258" y="10764"/>
                  <a:pt x="14288" y="10733"/>
                </a:cubicBezTo>
                <a:lnTo>
                  <a:pt x="21543" y="3480"/>
                </a:lnTo>
                <a:cubicBezTo>
                  <a:pt x="21588" y="3434"/>
                  <a:pt x="21588" y="3360"/>
                  <a:pt x="21543" y="3315"/>
                </a:cubicBezTo>
                <a:lnTo>
                  <a:pt x="18263" y="35"/>
                </a:lnTo>
                <a:cubicBezTo>
                  <a:pt x="18217" y="-11"/>
                  <a:pt x="18144" y="-11"/>
                  <a:pt x="18098" y="35"/>
                </a:cubicBezTo>
                <a:lnTo>
                  <a:pt x="10845" y="7290"/>
                </a:lnTo>
                <a:cubicBezTo>
                  <a:pt x="10814" y="7320"/>
                  <a:pt x="10765" y="7320"/>
                  <a:pt x="10735" y="7290"/>
                </a:cubicBezTo>
                <a:lnTo>
                  <a:pt x="3480" y="35"/>
                </a:lnTo>
                <a:cubicBezTo>
                  <a:pt x="3457" y="12"/>
                  <a:pt x="3428" y="1"/>
                  <a:pt x="3398" y="1"/>
                </a:cubicBezTo>
                <a:close/>
              </a:path>
            </a:pathLst>
          </a:custGeom>
          <a:solidFill>
            <a:schemeClr val="accent4">
              <a:hueOff val="-613784"/>
              <a:lumOff val="1275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grpSp>
        <p:nvGrpSpPr>
          <p:cNvPr id="303" name="Group"/>
          <p:cNvGrpSpPr/>
          <p:nvPr/>
        </p:nvGrpSpPr>
        <p:grpSpPr>
          <a:xfrm>
            <a:off x="13397650" y="7658986"/>
            <a:ext cx="4227767" cy="4846194"/>
            <a:chOff x="0" y="0"/>
            <a:chExt cx="4227766" cy="4846192"/>
          </a:xfrm>
        </p:grpSpPr>
        <p:sp>
          <p:nvSpPr>
            <p:cNvPr id="300" name="Resource…"/>
            <p:cNvSpPr txBox="1"/>
            <p:nvPr/>
          </p:nvSpPr>
          <p:spPr>
            <a:xfrm>
              <a:off x="-1" y="0"/>
              <a:ext cx="4227768" cy="25966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5500">
                  <a:solidFill>
                    <a:schemeClr val="accent4">
                      <a:hueOff val="-613784"/>
                      <a:lumOff val="1275"/>
                    </a:schemeClr>
                  </a:solidFill>
                </a:defRPr>
              </a:pPr>
              <a:r>
                <a:t>Resource </a:t>
              </a:r>
            </a:p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5500">
                  <a:solidFill>
                    <a:schemeClr val="accent4">
                      <a:hueOff val="-613784"/>
                      <a:lumOff val="1275"/>
                    </a:schemeClr>
                  </a:solidFill>
                </a:defRPr>
              </a:pPr>
              <a:r>
                <a:t>Not Available</a:t>
              </a:r>
            </a:p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5500"/>
              </a:pPr>
              <a:r>
                <a:t>Queue:</a:t>
              </a:r>
            </a:p>
          </p:txBody>
        </p:sp>
        <p:sp>
          <p:nvSpPr>
            <p:cNvPr id="301" name="Head with Shoulders"/>
            <p:cNvSpPr/>
            <p:nvPr/>
          </p:nvSpPr>
          <p:spPr>
            <a:xfrm>
              <a:off x="1538846" y="2794841"/>
              <a:ext cx="1353988" cy="11730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1" y="0"/>
                  </a:moveTo>
                  <a:cubicBezTo>
                    <a:pt x="8419" y="0"/>
                    <a:pt x="7041" y="1374"/>
                    <a:pt x="6553" y="3337"/>
                  </a:cubicBezTo>
                  <a:cubicBezTo>
                    <a:pt x="6322" y="4269"/>
                    <a:pt x="6312" y="5365"/>
                    <a:pt x="6383" y="6556"/>
                  </a:cubicBezTo>
                  <a:cubicBezTo>
                    <a:pt x="6251" y="6550"/>
                    <a:pt x="6103" y="6550"/>
                    <a:pt x="5944" y="6556"/>
                  </a:cubicBezTo>
                  <a:cubicBezTo>
                    <a:pt x="5170" y="6600"/>
                    <a:pt x="5740" y="8660"/>
                    <a:pt x="6261" y="9870"/>
                  </a:cubicBezTo>
                  <a:cubicBezTo>
                    <a:pt x="6371" y="10117"/>
                    <a:pt x="6602" y="10060"/>
                    <a:pt x="6700" y="10028"/>
                  </a:cubicBezTo>
                  <a:cubicBezTo>
                    <a:pt x="6898" y="12074"/>
                    <a:pt x="7173" y="12688"/>
                    <a:pt x="7865" y="13587"/>
                  </a:cubicBezTo>
                  <a:lnTo>
                    <a:pt x="7853" y="14563"/>
                  </a:lnTo>
                  <a:cubicBezTo>
                    <a:pt x="7836" y="15893"/>
                    <a:pt x="7177" y="16995"/>
                    <a:pt x="6102" y="17704"/>
                  </a:cubicBezTo>
                  <a:cubicBezTo>
                    <a:pt x="6014" y="17761"/>
                    <a:pt x="5927" y="17818"/>
                    <a:pt x="5839" y="17863"/>
                  </a:cubicBezTo>
                  <a:cubicBezTo>
                    <a:pt x="5335" y="18148"/>
                    <a:pt x="4780" y="18293"/>
                    <a:pt x="4221" y="18318"/>
                  </a:cubicBezTo>
                  <a:cubicBezTo>
                    <a:pt x="1630" y="18457"/>
                    <a:pt x="779" y="19820"/>
                    <a:pt x="0" y="21600"/>
                  </a:cubicBezTo>
                  <a:lnTo>
                    <a:pt x="10801" y="21600"/>
                  </a:lnTo>
                  <a:lnTo>
                    <a:pt x="21600" y="21600"/>
                  </a:lnTo>
                  <a:cubicBezTo>
                    <a:pt x="20821" y="19820"/>
                    <a:pt x="19970" y="18457"/>
                    <a:pt x="17379" y="18318"/>
                  </a:cubicBezTo>
                  <a:cubicBezTo>
                    <a:pt x="16820" y="18286"/>
                    <a:pt x="16260" y="18148"/>
                    <a:pt x="15761" y="17863"/>
                  </a:cubicBezTo>
                  <a:cubicBezTo>
                    <a:pt x="15678" y="17812"/>
                    <a:pt x="15591" y="17761"/>
                    <a:pt x="15498" y="17704"/>
                  </a:cubicBezTo>
                  <a:cubicBezTo>
                    <a:pt x="14423" y="16995"/>
                    <a:pt x="13758" y="15893"/>
                    <a:pt x="13747" y="14563"/>
                  </a:cubicBezTo>
                  <a:lnTo>
                    <a:pt x="13737" y="13587"/>
                  </a:lnTo>
                  <a:cubicBezTo>
                    <a:pt x="14428" y="12688"/>
                    <a:pt x="14697" y="12074"/>
                    <a:pt x="14900" y="10028"/>
                  </a:cubicBezTo>
                  <a:cubicBezTo>
                    <a:pt x="14993" y="10066"/>
                    <a:pt x="15229" y="10123"/>
                    <a:pt x="15339" y="9870"/>
                  </a:cubicBezTo>
                  <a:cubicBezTo>
                    <a:pt x="15865" y="8660"/>
                    <a:pt x="16431" y="6600"/>
                    <a:pt x="15658" y="6556"/>
                  </a:cubicBezTo>
                  <a:cubicBezTo>
                    <a:pt x="15498" y="6550"/>
                    <a:pt x="15350" y="6543"/>
                    <a:pt x="15219" y="6556"/>
                  </a:cubicBezTo>
                  <a:cubicBezTo>
                    <a:pt x="15290" y="5371"/>
                    <a:pt x="15283" y="4269"/>
                    <a:pt x="15047" y="3337"/>
                  </a:cubicBezTo>
                  <a:cubicBezTo>
                    <a:pt x="14559" y="1374"/>
                    <a:pt x="13183" y="0"/>
                    <a:pt x="10801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302" name="User 3"/>
            <p:cNvSpPr txBox="1"/>
            <p:nvPr/>
          </p:nvSpPr>
          <p:spPr>
            <a:xfrm>
              <a:off x="1266844" y="4037761"/>
              <a:ext cx="1897991" cy="8084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User 3</a:t>
              </a:r>
            </a:p>
          </p:txBody>
        </p:sp>
      </p:grpSp>
      <p:sp>
        <p:nvSpPr>
          <p:cNvPr id="304" name="Shape"/>
          <p:cNvSpPr/>
          <p:nvPr/>
        </p:nvSpPr>
        <p:spPr>
          <a:xfrm>
            <a:off x="11638470" y="-949149"/>
            <a:ext cx="3897909" cy="39378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ln w="508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05" name="Shape"/>
          <p:cNvSpPr/>
          <p:nvPr/>
        </p:nvSpPr>
        <p:spPr>
          <a:xfrm>
            <a:off x="14319312" y="1652356"/>
            <a:ext cx="3897908" cy="39378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ln w="508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06" name="Shape"/>
          <p:cNvSpPr/>
          <p:nvPr/>
        </p:nvSpPr>
        <p:spPr>
          <a:xfrm>
            <a:off x="16964043" y="4333405"/>
            <a:ext cx="3897909" cy="39378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ln w="508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grpSp>
        <p:nvGrpSpPr>
          <p:cNvPr id="310" name="Group"/>
          <p:cNvGrpSpPr/>
          <p:nvPr/>
        </p:nvGrpSpPr>
        <p:grpSpPr>
          <a:xfrm>
            <a:off x="14667352" y="8962880"/>
            <a:ext cx="2117039" cy="4413657"/>
            <a:chOff x="788372" y="1298321"/>
            <a:chExt cx="2117038" cy="4413656"/>
          </a:xfrm>
        </p:grpSpPr>
        <p:sp>
          <p:nvSpPr>
            <p:cNvPr id="307" name="Resource…"/>
            <p:cNvSpPr/>
            <p:nvPr/>
          </p:nvSpPr>
          <p:spPr>
            <a:xfrm>
              <a:off x="1635410" y="1298321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5500">
                  <a:solidFill>
                    <a:schemeClr val="accent3">
                      <a:hueOff val="-385756"/>
                      <a:satOff val="-32155"/>
                      <a:lumOff val="17967"/>
                    </a:schemeClr>
                  </a:solidFill>
                </a:defRPr>
              </a:pPr>
              <a:r>
                <a:t>Resource </a:t>
              </a:r>
            </a:p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5500">
                  <a:solidFill>
                    <a:schemeClr val="accent3">
                      <a:hueOff val="-385756"/>
                      <a:satOff val="-32155"/>
                      <a:lumOff val="17967"/>
                    </a:schemeClr>
                  </a:solidFill>
                </a:defRPr>
              </a:pPr>
              <a:r>
                <a:t>Available</a:t>
              </a:r>
            </a:p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5500"/>
              </a:pPr>
              <a:r>
                <a:t>Queue:</a:t>
              </a:r>
            </a:p>
          </p:txBody>
        </p:sp>
        <p:sp>
          <p:nvSpPr>
            <p:cNvPr id="308" name="Head with Shoulders"/>
            <p:cNvSpPr/>
            <p:nvPr/>
          </p:nvSpPr>
          <p:spPr>
            <a:xfrm>
              <a:off x="1060374" y="2794841"/>
              <a:ext cx="1353987" cy="11730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1" y="0"/>
                  </a:moveTo>
                  <a:cubicBezTo>
                    <a:pt x="8419" y="0"/>
                    <a:pt x="7041" y="1374"/>
                    <a:pt x="6553" y="3337"/>
                  </a:cubicBezTo>
                  <a:cubicBezTo>
                    <a:pt x="6322" y="4269"/>
                    <a:pt x="6312" y="5365"/>
                    <a:pt x="6383" y="6556"/>
                  </a:cubicBezTo>
                  <a:cubicBezTo>
                    <a:pt x="6251" y="6550"/>
                    <a:pt x="6103" y="6550"/>
                    <a:pt x="5944" y="6556"/>
                  </a:cubicBezTo>
                  <a:cubicBezTo>
                    <a:pt x="5170" y="6600"/>
                    <a:pt x="5740" y="8660"/>
                    <a:pt x="6261" y="9870"/>
                  </a:cubicBezTo>
                  <a:cubicBezTo>
                    <a:pt x="6371" y="10117"/>
                    <a:pt x="6602" y="10060"/>
                    <a:pt x="6700" y="10028"/>
                  </a:cubicBezTo>
                  <a:cubicBezTo>
                    <a:pt x="6898" y="12074"/>
                    <a:pt x="7173" y="12688"/>
                    <a:pt x="7865" y="13587"/>
                  </a:cubicBezTo>
                  <a:lnTo>
                    <a:pt x="7853" y="14563"/>
                  </a:lnTo>
                  <a:cubicBezTo>
                    <a:pt x="7836" y="15893"/>
                    <a:pt x="7177" y="16995"/>
                    <a:pt x="6102" y="17704"/>
                  </a:cubicBezTo>
                  <a:cubicBezTo>
                    <a:pt x="6014" y="17761"/>
                    <a:pt x="5927" y="17818"/>
                    <a:pt x="5839" y="17863"/>
                  </a:cubicBezTo>
                  <a:cubicBezTo>
                    <a:pt x="5335" y="18148"/>
                    <a:pt x="4780" y="18293"/>
                    <a:pt x="4221" y="18318"/>
                  </a:cubicBezTo>
                  <a:cubicBezTo>
                    <a:pt x="1630" y="18457"/>
                    <a:pt x="779" y="19820"/>
                    <a:pt x="0" y="21600"/>
                  </a:cubicBezTo>
                  <a:lnTo>
                    <a:pt x="10801" y="21600"/>
                  </a:lnTo>
                  <a:lnTo>
                    <a:pt x="21600" y="21600"/>
                  </a:lnTo>
                  <a:cubicBezTo>
                    <a:pt x="20821" y="19820"/>
                    <a:pt x="19970" y="18457"/>
                    <a:pt x="17379" y="18318"/>
                  </a:cubicBezTo>
                  <a:cubicBezTo>
                    <a:pt x="16820" y="18286"/>
                    <a:pt x="16260" y="18148"/>
                    <a:pt x="15761" y="17863"/>
                  </a:cubicBezTo>
                  <a:cubicBezTo>
                    <a:pt x="15678" y="17812"/>
                    <a:pt x="15591" y="17761"/>
                    <a:pt x="15498" y="17704"/>
                  </a:cubicBezTo>
                  <a:cubicBezTo>
                    <a:pt x="14423" y="16995"/>
                    <a:pt x="13758" y="15893"/>
                    <a:pt x="13747" y="14563"/>
                  </a:cubicBezTo>
                  <a:lnTo>
                    <a:pt x="13737" y="13587"/>
                  </a:lnTo>
                  <a:cubicBezTo>
                    <a:pt x="14428" y="12688"/>
                    <a:pt x="14697" y="12074"/>
                    <a:pt x="14900" y="10028"/>
                  </a:cubicBezTo>
                  <a:cubicBezTo>
                    <a:pt x="14993" y="10066"/>
                    <a:pt x="15229" y="10123"/>
                    <a:pt x="15339" y="9870"/>
                  </a:cubicBezTo>
                  <a:cubicBezTo>
                    <a:pt x="15865" y="8660"/>
                    <a:pt x="16431" y="6600"/>
                    <a:pt x="15658" y="6556"/>
                  </a:cubicBezTo>
                  <a:cubicBezTo>
                    <a:pt x="15498" y="6550"/>
                    <a:pt x="15350" y="6543"/>
                    <a:pt x="15219" y="6556"/>
                  </a:cubicBezTo>
                  <a:cubicBezTo>
                    <a:pt x="15290" y="5371"/>
                    <a:pt x="15283" y="4269"/>
                    <a:pt x="15047" y="3337"/>
                  </a:cubicBezTo>
                  <a:cubicBezTo>
                    <a:pt x="14559" y="1374"/>
                    <a:pt x="13183" y="0"/>
                    <a:pt x="10801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309" name="User 3"/>
            <p:cNvSpPr/>
            <p:nvPr/>
          </p:nvSpPr>
          <p:spPr>
            <a:xfrm>
              <a:off x="788372" y="4441977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r>
                <a:t>User 3</a:t>
              </a:r>
            </a:p>
          </p:txBody>
        </p:sp>
      </p:grpSp>
      <p:sp>
        <p:nvSpPr>
          <p:cNvPr id="311" name="Shape"/>
          <p:cNvSpPr/>
          <p:nvPr/>
        </p:nvSpPr>
        <p:spPr>
          <a:xfrm>
            <a:off x="16964043" y="4333405"/>
            <a:ext cx="3897909" cy="39378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ln w="50800">
            <a:solidFill>
              <a:schemeClr val="accent3">
                <a:hueOff val="-385756"/>
                <a:satOff val="-32155"/>
                <a:lumOff val="17967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12" name="Shape"/>
          <p:cNvSpPr/>
          <p:nvPr/>
        </p:nvSpPr>
        <p:spPr>
          <a:xfrm>
            <a:off x="14319312" y="1657899"/>
            <a:ext cx="3897908" cy="39378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10800" y="21600"/>
                </a:lnTo>
                <a:lnTo>
                  <a:pt x="21600" y="10800"/>
                </a:lnTo>
                <a:lnTo>
                  <a:pt x="10800" y="0"/>
                </a:lnTo>
                <a:close/>
              </a:path>
            </a:pathLst>
          </a:custGeom>
          <a:ln w="50800">
            <a:solidFill>
              <a:schemeClr val="accent3">
                <a:hueOff val="-385756"/>
                <a:satOff val="-32155"/>
                <a:lumOff val="17967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13" name="Rectangle"/>
          <p:cNvSpPr/>
          <p:nvPr/>
        </p:nvSpPr>
        <p:spPr>
          <a:xfrm>
            <a:off x="6844484" y="8034954"/>
            <a:ext cx="3847109" cy="4307020"/>
          </a:xfrm>
          <a:prstGeom prst="rect">
            <a:avLst/>
          </a:prstGeom>
          <a:ln w="50800">
            <a:solidFill>
              <a:schemeClr val="accent3">
                <a:hueOff val="-385756"/>
                <a:satOff val="-32155"/>
                <a:lumOff val="17967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314" name="Rectangle"/>
          <p:cNvSpPr/>
          <p:nvPr/>
        </p:nvSpPr>
        <p:spPr>
          <a:xfrm>
            <a:off x="6844484" y="8034954"/>
            <a:ext cx="3847109" cy="4307020"/>
          </a:xfrm>
          <a:prstGeom prst="rect">
            <a:avLst/>
          </a:prstGeom>
          <a:ln w="508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9" presetClass="entr" presetSubtype="1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50"/>
                            </p:stCondLst>
                            <p:childTnLst>
                              <p:par>
                                <p:cTn id="16" presetID="19" presetClass="entr" presetSubtype="10" fill="hold" grpId="3" nodeType="afterEffect">
                                  <p:stCondLst>
                                    <p:cond delay="7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950"/>
                            </p:stCondLst>
                            <p:childTnLst>
                              <p:par>
                                <p:cTn id="21" presetID="19" presetClass="entr" presetSubtype="10" fill="hold" grpId="4" nodeType="afterEffect">
                                  <p:stCondLst>
                                    <p:cond delay="7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150"/>
                            </p:stCondLst>
                            <p:childTnLst>
                              <p:par>
                                <p:cTn id="26" presetID="19" presetClass="entr" presetSubtype="10" fill="hold" grpId="5" nodeType="afterEffect">
                                  <p:stCondLst>
                                    <p:cond delay="7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350"/>
                            </p:stCondLst>
                            <p:childTnLst>
                              <p:par>
                                <p:cTn id="31" presetID="23" presetClass="entr" presetSubtype="16" fill="hold" grpId="6" nodeType="afterEffect">
                                  <p:stCondLst>
                                    <p:cond delay="7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9" presetClass="entr" presetSubtype="10" fill="hold" grpId="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750"/>
                            </p:stCondLst>
                            <p:childTnLst>
                              <p:par>
                                <p:cTn id="48" presetID="19" presetClass="entr" presetSubtype="10" fill="hold" grpId="9" nodeType="afterEffect">
                                  <p:stCondLst>
                                    <p:cond delay="7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5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5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950"/>
                            </p:stCondLst>
                            <p:childTnLst>
                              <p:par>
                                <p:cTn id="53" presetID="19" presetClass="entr" presetSubtype="10" fill="hold" grpId="10" nodeType="afterEffect">
                                  <p:stCondLst>
                                    <p:cond delay="7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5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5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150"/>
                            </p:stCondLst>
                            <p:childTnLst>
                              <p:par>
                                <p:cTn id="58" presetID="23" presetClass="entr" presetSubtype="16" fill="hold" grpId="11" nodeType="afterEffect">
                                  <p:stCondLst>
                                    <p:cond delay="7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8" fill="hold" grpId="1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19" presetClass="entr" presetSubtype="10" fill="hold" grpId="1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75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75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750"/>
                            </p:stCondLst>
                            <p:childTnLst>
                              <p:par>
                                <p:cTn id="74" presetID="19" presetClass="entr" presetSubtype="10" fill="hold" grpId="14" nodeType="afterEffect">
                                  <p:stCondLst>
                                    <p:cond delay="7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1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950"/>
                            </p:stCondLst>
                            <p:childTnLst>
                              <p:par>
                                <p:cTn id="79" presetID="23" presetClass="entr" presetSubtype="16" fill="hold" grpId="15" nodeType="afterEffect">
                                  <p:stCondLst>
                                    <p:cond delay="7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75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400"/>
                            </p:stCondLst>
                            <p:childTnLst>
                              <p:par>
                                <p:cTn id="84" presetID="23" presetClass="entr" presetSubtype="16" fill="hold" grpId="16" nodeType="afterEffect">
                                  <p:stCondLst>
                                    <p:cond delay="1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5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75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7650"/>
                            </p:stCondLst>
                            <p:childTnLst>
                              <p:par>
                                <p:cTn id="89" presetID="23" presetClass="entr" presetSubtype="16" fill="hold" grpId="1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75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75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400"/>
                            </p:stCondLst>
                            <p:childTnLst>
                              <p:par>
                                <p:cTn id="94" presetID="23" presetClass="entr" presetSubtype="16" fill="hold" grpId="18" nodeType="afterEffect">
                                  <p:stCondLst>
                                    <p:cond delay="7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5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75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75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3" presetClass="entr" presetSubtype="16" fill="hold" grpId="1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1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75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75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750"/>
                            </p:stCondLst>
                            <p:childTnLst>
                              <p:par>
                                <p:cTn id="105" presetID="23" presetClass="entr" presetSubtype="16" fill="hold" grpId="20" nodeType="afterEffect">
                                  <p:stCondLst>
                                    <p:cond delay="7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75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75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2200"/>
                            </p:stCondLst>
                            <p:childTnLst>
                              <p:par>
                                <p:cTn id="110" presetID="23" presetClass="entr" presetSubtype="16" fill="hold" grpId="21" nodeType="afterEffect">
                                  <p:stCondLst>
                                    <p:cond delay="7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1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75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3650"/>
                            </p:stCondLst>
                            <p:childTnLst>
                              <p:par>
                                <p:cTn id="115" presetID="23" presetClass="exit" presetSubtype="32" fill="hold" grpId="22" nodeType="afterEffect">
                                  <p:stCondLst>
                                    <p:cond delay="7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4850"/>
                            </p:stCondLst>
                            <p:childTnLst>
                              <p:par>
                                <p:cTn id="120" presetID="23" presetClass="exit" presetSubtype="32" fill="hold" grpId="2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3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850"/>
                            </p:stCondLst>
                            <p:childTnLst>
                              <p:par>
                                <p:cTn id="125" presetID="19" presetClass="entr" presetSubtype="10" fill="hold" grpId="24" nodeType="afterEffect">
                                  <p:stCondLst>
                                    <p:cond delay="1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6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75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75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8100"/>
                            </p:stCondLst>
                            <p:childTnLst>
                              <p:par>
                                <p:cTn id="130" presetID="23" presetClass="entr" presetSubtype="16" fill="hold" grpId="2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1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75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75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8850"/>
                            </p:stCondLst>
                            <p:childTnLst>
                              <p:par>
                                <p:cTn id="135" presetID="19" presetClass="entr" presetSubtype="10" fill="hold" grpId="26" nodeType="afterEffect">
                                  <p:stCondLst>
                                    <p:cond delay="7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6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1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1050"/>
                            </p:stCondLst>
                            <p:childTnLst>
                              <p:par>
                                <p:cTn id="140" presetID="19" presetClass="entr" presetSubtype="10" fill="hold" grpId="27" nodeType="afterEffect">
                                  <p:stCondLst>
                                    <p:cond delay="7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1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1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3250"/>
                            </p:stCondLst>
                            <p:childTnLst>
                              <p:par>
                                <p:cTn id="145" presetID="23" presetClass="exit" presetSubtype="32" fill="hold" grpId="28" nodeType="afterEffect">
                                  <p:stCondLst>
                                    <p:cond delay="15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8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5250"/>
                            </p:stCondLst>
                            <p:childTnLst>
                              <p:par>
                                <p:cTn id="150" presetID="23" presetClass="entr" presetSubtype="16" fill="hold" grpId="29" nodeType="afterEffect">
                                  <p:stCondLst>
                                    <p:cond delay="3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1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75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75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" grpId="2" animBg="1" advAuto="0"/>
      <p:bldP spid="263" grpId="4" animBg="1" advAuto="0"/>
      <p:bldP spid="271" grpId="5" animBg="1" advAuto="0"/>
      <p:bldP spid="280" grpId="3" animBg="1" advAuto="0"/>
      <p:bldP spid="287" grpId="1" animBg="1" advAuto="0"/>
      <p:bldP spid="288" grpId="7" animBg="1" advAuto="0"/>
      <p:bldP spid="289" grpId="12" animBg="1" advAuto="0"/>
      <p:bldP spid="290" grpId="9" animBg="1" advAuto="0"/>
      <p:bldP spid="291" grpId="10" animBg="1" advAuto="0"/>
      <p:bldP spid="292" grpId="6" animBg="1" advAuto="0"/>
      <p:bldP spid="293" grpId="8" animBg="1" advAuto="0"/>
      <p:bldP spid="294" grpId="11" animBg="1" advAuto="0"/>
      <p:bldP spid="295" grpId="13" animBg="1" advAuto="0"/>
      <p:bldP spid="296" grpId="18" animBg="1" advAuto="0"/>
      <p:bldP spid="297" grpId="14" animBg="1" advAuto="0"/>
      <p:bldP spid="298" grpId="15" animBg="1" advAuto="0"/>
      <p:bldP spid="299" grpId="16" animBg="1" advAuto="0"/>
      <p:bldP spid="299" grpId="23" animBg="1" advAuto="0"/>
      <p:bldP spid="303" grpId="17" animBg="1" advAuto="0"/>
      <p:bldP spid="303" grpId="22" animBg="1" advAuto="0"/>
      <p:bldP spid="304" grpId="19" animBg="1" advAuto="0"/>
      <p:bldP spid="305" grpId="20" animBg="1" advAuto="0"/>
      <p:bldP spid="306" grpId="21" animBg="1" advAuto="0"/>
      <p:bldP spid="310" grpId="25" animBg="1" advAuto="0"/>
      <p:bldP spid="310" grpId="28" animBg="1" advAuto="0"/>
      <p:bldP spid="311" grpId="26" animBg="1" advAuto="0"/>
      <p:bldP spid="312" grpId="27" animBg="1" advAuto="0"/>
      <p:bldP spid="313" grpId="24" animBg="1" advAuto="0"/>
      <p:bldP spid="314" grpId="29" animBg="1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A. Basic Command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B</a:t>
            </a:r>
            <a:r>
              <a:rPr dirty="0"/>
              <a:t>. Basic Commands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Using Maxwel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Using Maxwell</a:t>
            </a:r>
          </a:p>
        </p:txBody>
      </p:sp>
      <p:sp>
        <p:nvSpPr>
          <p:cNvPr id="317" name="Unlike your standard desktop computer, you instead must submit a “job” for execution to the SLURM scheduler.…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21782454" cy="8256012"/>
          </a:xfrm>
          <a:prstGeom prst="rect">
            <a:avLst/>
          </a:prstGeom>
        </p:spPr>
        <p:txBody>
          <a:bodyPr/>
          <a:lstStyle/>
          <a:p>
            <a:pPr marL="0" indent="0" defTabSz="2096971">
              <a:spcBef>
                <a:spcPts val="3800"/>
              </a:spcBef>
              <a:buSzTx/>
              <a:buNone/>
              <a:defRPr sz="4128"/>
            </a:pPr>
            <a:r>
              <a:t>Unlike your standard desktop computer, you instead must submit a “job” for execution to the SLURM scheduler.</a:t>
            </a:r>
            <a:endParaRPr sz="1032"/>
          </a:p>
          <a:p>
            <a:pPr marL="0" indent="0" defTabSz="2096971">
              <a:spcBef>
                <a:spcPts val="3800"/>
              </a:spcBef>
              <a:buSzTx/>
              <a:buNone/>
              <a:defRPr sz="4128"/>
            </a:pPr>
            <a:r>
              <a:t>Some useful commands are as follows:</a:t>
            </a:r>
            <a:endParaRPr sz="1032"/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t>`</a:t>
            </a:r>
            <a:r>
              <a:rPr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  <a:latin typeface="SF Mono Regular"/>
                <a:ea typeface="SF Mono Regular"/>
                <a:cs typeface="SF Mono Regular"/>
                <a:sym typeface="SF Mono Regular"/>
              </a:rPr>
              <a:t>sinfo</a:t>
            </a:r>
            <a:r>
              <a:t>` - Show summary information </a:t>
            </a:r>
            <a:endParaRPr sz="1032"/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t>`</a:t>
            </a:r>
            <a:r>
              <a:rPr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  <a:latin typeface="SF Mono Regular"/>
                <a:ea typeface="SF Mono Regular"/>
                <a:cs typeface="SF Mono Regular"/>
                <a:sym typeface="SF Mono Regular"/>
              </a:rPr>
              <a:t>squeue</a:t>
            </a:r>
            <a:r>
              <a:t>` - Show job queue</a:t>
            </a:r>
            <a:endParaRPr sz="1032"/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t>`</a:t>
            </a:r>
            <a:r>
              <a:rPr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  <a:latin typeface="SF Mono Regular"/>
                <a:ea typeface="SF Mono Regular"/>
                <a:cs typeface="SF Mono Regular"/>
                <a:sym typeface="SF Mono Regular"/>
              </a:rPr>
              <a:t>squeue</a:t>
            </a:r>
            <a:r>
              <a:rPr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</a:rPr>
              <a:t> </a:t>
            </a:r>
            <a:r>
              <a:rPr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  <a:latin typeface="SF Mono Regular"/>
                <a:ea typeface="SF Mono Regular"/>
                <a:cs typeface="SF Mono Regular"/>
                <a:sym typeface="SF Mono Regular"/>
              </a:rPr>
              <a:t>-u &lt;username&gt;</a:t>
            </a:r>
            <a:r>
              <a:t>` - Show job queue for a specific user</a:t>
            </a:r>
            <a:endParaRPr sz="1032"/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t>`</a:t>
            </a:r>
            <a:r>
              <a:rPr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  <a:latin typeface="SF Mono Regular"/>
                <a:ea typeface="SF Mono Regular"/>
                <a:cs typeface="SF Mono Regular"/>
                <a:sym typeface="SF Mono Regular"/>
              </a:rPr>
              <a:t>scontrol show partition a100_full</a:t>
            </a:r>
            <a:r>
              <a:t>` - Show gpu partition “a100_full” details</a:t>
            </a:r>
            <a:endParaRPr sz="1032"/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t>`</a:t>
            </a:r>
            <a:r>
              <a:rPr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  <a:latin typeface="SF Mono Regular"/>
                <a:ea typeface="SF Mono Regular"/>
                <a:cs typeface="SF Mono Regular"/>
                <a:sym typeface="SF Mono Regular"/>
              </a:rPr>
              <a:t>scancel &lt;job_ID&gt;</a:t>
            </a:r>
            <a:r>
              <a:t>` - Cancel a job</a:t>
            </a:r>
            <a:endParaRPr sz="1032"/>
          </a:p>
        </p:txBody>
      </p:sp>
      <p:sp>
        <p:nvSpPr>
          <p:cNvPr id="318" name="Requesting Resource (1/3)"/>
          <p:cNvSpPr txBox="1"/>
          <p:nvPr/>
        </p:nvSpPr>
        <p:spPr>
          <a:xfrm>
            <a:off x="1206500" y="2245962"/>
            <a:ext cx="9779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sz="5500" b="1"/>
            </a:lvl1pPr>
          </a:lstStyle>
          <a:p>
            <a:r>
              <a:t>Requesting Resource (1/3)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Using Maxwel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Using Maxwell</a:t>
            </a:r>
          </a:p>
        </p:txBody>
      </p:sp>
      <p:sp>
        <p:nvSpPr>
          <p:cNvPr id="321" name="To run a job (run your program) on Maxwell you must submit a script to the SLURM scheduler.…"/>
          <p:cNvSpPr txBox="1">
            <a:spLocks noGrp="1"/>
          </p:cNvSpPr>
          <p:nvPr>
            <p:ph type="body" sz="half" idx="1"/>
          </p:nvPr>
        </p:nvSpPr>
        <p:spPr>
          <a:xfrm>
            <a:off x="1206500" y="4248504"/>
            <a:ext cx="8757012" cy="8256012"/>
          </a:xfrm>
          <a:prstGeom prst="rect">
            <a:avLst/>
          </a:prstGeom>
        </p:spPr>
        <p:txBody>
          <a:bodyPr/>
          <a:lstStyle/>
          <a:p>
            <a:pPr marL="0" indent="0" defTabSz="2048204">
              <a:spcBef>
                <a:spcPts val="3700"/>
              </a:spcBef>
              <a:buSzTx/>
              <a:buNone/>
              <a:defRPr sz="4032"/>
            </a:pPr>
            <a:r>
              <a:t>To run a job (run your program) on Maxwell you must submit a script to the SLURM scheduler. </a:t>
            </a:r>
            <a:endParaRPr sz="1008"/>
          </a:p>
          <a:p>
            <a:pPr marL="0" indent="0" defTabSz="2048204">
              <a:spcBef>
                <a:spcPts val="3700"/>
              </a:spcBef>
              <a:buSzTx/>
              <a:buNone/>
              <a:defRPr sz="4032"/>
            </a:pPr>
            <a:r>
              <a:t>The SLURM script must contain 3 things:</a:t>
            </a:r>
            <a:endParaRPr sz="1008"/>
          </a:p>
          <a:p>
            <a:pPr marL="746759" indent="-746759" defTabSz="2048204">
              <a:spcBef>
                <a:spcPts val="3700"/>
              </a:spcBef>
              <a:buSzPct val="100000"/>
              <a:buAutoNum type="arabicPeriod"/>
              <a:defRPr sz="4032"/>
            </a:pPr>
            <a:r>
              <a:t>Define the resource requirements for the job.</a:t>
            </a:r>
            <a:endParaRPr sz="1008"/>
          </a:p>
          <a:p>
            <a:pPr marL="746759" indent="-746759" defTabSz="2048204">
              <a:spcBef>
                <a:spcPts val="3700"/>
              </a:spcBef>
              <a:buSzPct val="100000"/>
              <a:buAutoNum type="arabicPeriod"/>
              <a:defRPr sz="4032"/>
            </a:pPr>
            <a:r>
              <a:t>Activate the environment we created earlier.</a:t>
            </a:r>
            <a:endParaRPr sz="1008"/>
          </a:p>
          <a:p>
            <a:pPr marL="746759" indent="-746759" defTabSz="2048204">
              <a:spcBef>
                <a:spcPts val="3700"/>
              </a:spcBef>
              <a:buSzPct val="100000"/>
              <a:buAutoNum type="arabicPeriod"/>
              <a:defRPr sz="4032"/>
            </a:pPr>
            <a:r>
              <a:t>Specify the script we wish to run.</a:t>
            </a:r>
            <a:endParaRPr sz="1008"/>
          </a:p>
        </p:txBody>
      </p:sp>
      <p:sp>
        <p:nvSpPr>
          <p:cNvPr id="322" name="Requesting Resource (2/3)"/>
          <p:cNvSpPr txBox="1"/>
          <p:nvPr/>
        </p:nvSpPr>
        <p:spPr>
          <a:xfrm>
            <a:off x="1206500" y="2245962"/>
            <a:ext cx="9779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sz="5500" b="1"/>
            </a:lvl1pPr>
          </a:lstStyle>
          <a:p>
            <a:r>
              <a:t>Requesting Resource (2/3)</a:t>
            </a:r>
          </a:p>
        </p:txBody>
      </p:sp>
      <p:sp>
        <p:nvSpPr>
          <p:cNvPr id="323" name="#!/bin/bash…"/>
          <p:cNvSpPr txBox="1"/>
          <p:nvPr/>
        </p:nvSpPr>
        <p:spPr>
          <a:xfrm>
            <a:off x="10932695" y="1225375"/>
            <a:ext cx="12888619" cy="1127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pPr marL="1511808" indent="-1511808" defTabSz="1511770">
              <a:spcBef>
                <a:spcPts val="2700"/>
              </a:spcBef>
              <a:buClr>
                <a:srgbClr val="FFFFFF"/>
              </a:buClr>
              <a:buSzPct val="100000"/>
              <a:buAutoNum type="arabicPeriod"/>
              <a:defRPr sz="2976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  <a:latin typeface="SF Mono Regular"/>
                <a:ea typeface="SF Mono Regular"/>
                <a:cs typeface="SF Mono Regular"/>
                <a:sym typeface="SF Mono Regular"/>
              </a:defRPr>
            </a:pPr>
            <a:r>
              <a:t>#!/bin/bash</a:t>
            </a:r>
            <a:endParaRPr sz="744"/>
          </a:p>
          <a:p>
            <a:pPr marL="1511808" indent="-1511808" defTabSz="1511770">
              <a:spcBef>
                <a:spcPts val="2700"/>
              </a:spcBef>
              <a:buClr>
                <a:srgbClr val="FFFFFF"/>
              </a:buClr>
              <a:buSzPct val="100000"/>
              <a:buAutoNum type="arabicPeriod"/>
              <a:defRPr sz="2976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  <a:latin typeface="SF Mono Regular"/>
                <a:ea typeface="SF Mono Regular"/>
                <a:cs typeface="SF Mono Regular"/>
                <a:sym typeface="SF Mono Regular"/>
              </a:defRPr>
            </a:pPr>
            <a:r>
              <a:t>#SBATCH --nodes=1 # number of nodes</a:t>
            </a:r>
            <a:endParaRPr sz="744"/>
          </a:p>
          <a:p>
            <a:pPr marL="1511808" indent="-1511808" defTabSz="1511770">
              <a:spcBef>
                <a:spcPts val="2700"/>
              </a:spcBef>
              <a:buClr>
                <a:srgbClr val="FFFFFF"/>
              </a:buClr>
              <a:buSzPct val="100000"/>
              <a:buAutoNum type="arabicPeriod"/>
              <a:defRPr sz="2976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  <a:latin typeface="SF Mono Regular"/>
                <a:ea typeface="SF Mono Regular"/>
                <a:cs typeface="SF Mono Regular"/>
                <a:sym typeface="SF Mono Regular"/>
              </a:defRPr>
            </a:pPr>
            <a:r>
              <a:t>#SBATCH --cpus-per-task=12 # number of cores</a:t>
            </a:r>
            <a:endParaRPr sz="744"/>
          </a:p>
          <a:p>
            <a:pPr marL="1511808" indent="-1511808" defTabSz="1511770">
              <a:spcBef>
                <a:spcPts val="2700"/>
              </a:spcBef>
              <a:buClr>
                <a:srgbClr val="FFFFFF"/>
              </a:buClr>
              <a:buSzPct val="100000"/>
              <a:buAutoNum type="arabicPeriod"/>
              <a:defRPr sz="2976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  <a:latin typeface="SF Mono Regular"/>
                <a:ea typeface="SF Mono Regular"/>
                <a:cs typeface="SF Mono Regular"/>
                <a:sym typeface="SF Mono Regular"/>
              </a:defRPr>
            </a:pPr>
            <a:r>
              <a:t>#SBATCH --mem=32G # memory pool for all cores</a:t>
            </a:r>
            <a:endParaRPr sz="744"/>
          </a:p>
          <a:p>
            <a:pPr marL="1511808" indent="-1511808" defTabSz="1511770">
              <a:spcBef>
                <a:spcPts val="2700"/>
              </a:spcBef>
              <a:buClr>
                <a:srgbClr val="FFFFFF"/>
              </a:buClr>
              <a:buSzPct val="100000"/>
              <a:buAutoNum type="arabicPeriod"/>
              <a:defRPr sz="2976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  <a:latin typeface="SF Mono Regular"/>
                <a:ea typeface="SF Mono Regular"/>
                <a:cs typeface="SF Mono Regular"/>
                <a:sym typeface="SF Mono Regular"/>
              </a:defRPr>
            </a:pPr>
            <a:r>
              <a:t>#SBATCH --ntasks-per-node=1 # one job per node</a:t>
            </a:r>
            <a:endParaRPr sz="744"/>
          </a:p>
          <a:p>
            <a:pPr marL="1511808" indent="-1511808" defTabSz="1511770">
              <a:spcBef>
                <a:spcPts val="2700"/>
              </a:spcBef>
              <a:buClr>
                <a:srgbClr val="FFFFFF"/>
              </a:buClr>
              <a:buSzPct val="100000"/>
              <a:buAutoNum type="arabicPeriod"/>
              <a:defRPr sz="2976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  <a:latin typeface="SF Mono Regular"/>
                <a:ea typeface="SF Mono Regular"/>
                <a:cs typeface="SF Mono Regular"/>
                <a:sym typeface="SF Mono Regular"/>
              </a:defRPr>
            </a:pPr>
            <a:r>
              <a:t>#SBATCH --gres=gpu:2 # two gpus per node</a:t>
            </a:r>
            <a:endParaRPr sz="744"/>
          </a:p>
          <a:p>
            <a:pPr marL="1511808" indent="-1511808" defTabSz="1511770">
              <a:spcBef>
                <a:spcPts val="2700"/>
              </a:spcBef>
              <a:buClr>
                <a:srgbClr val="FFFFFF"/>
              </a:buClr>
              <a:buSzPct val="100000"/>
              <a:buAutoNum type="arabicPeriod"/>
              <a:defRPr sz="2976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  <a:latin typeface="SF Mono Regular"/>
                <a:ea typeface="SF Mono Regular"/>
                <a:cs typeface="SF Mono Regular"/>
                <a:sym typeface="SF Mono Regular"/>
              </a:defRPr>
            </a:pPr>
            <a:r>
              <a:t>#SBATCH --partition=a100_full</a:t>
            </a:r>
            <a:endParaRPr sz="744"/>
          </a:p>
          <a:p>
            <a:pPr marL="1511808" indent="-1511808" defTabSz="1511770">
              <a:spcBef>
                <a:spcPts val="2700"/>
              </a:spcBef>
              <a:buClr>
                <a:srgbClr val="FFFFFF"/>
              </a:buClr>
              <a:buSzPct val="100000"/>
              <a:buAutoNum type="arabicPeriod"/>
              <a:defRPr sz="2976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  <a:latin typeface="SF Mono Regular"/>
                <a:ea typeface="SF Mono Regular"/>
                <a:cs typeface="SF Mono Regular"/>
                <a:sym typeface="SF Mono Regular"/>
              </a:defRPr>
            </a:pPr>
            <a:r>
              <a:t>#SBATCH -o slurm.%j.out # STDOUT</a:t>
            </a:r>
            <a:endParaRPr sz="744"/>
          </a:p>
          <a:p>
            <a:pPr marL="1511808" indent="-1511808" defTabSz="1511770">
              <a:spcBef>
                <a:spcPts val="2700"/>
              </a:spcBef>
              <a:buClr>
                <a:srgbClr val="FFFFFF"/>
              </a:buClr>
              <a:buSzPct val="100000"/>
              <a:buAutoNum type="arabicPeriod"/>
              <a:defRPr sz="2976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  <a:latin typeface="SF Mono Regular"/>
                <a:ea typeface="SF Mono Regular"/>
                <a:cs typeface="SF Mono Regular"/>
                <a:sym typeface="SF Mono Regular"/>
              </a:defRPr>
            </a:pPr>
            <a:r>
              <a:t>#SBATCH -e slurm.%j.err # STDERR</a:t>
            </a:r>
            <a:endParaRPr sz="744"/>
          </a:p>
          <a:p>
            <a:pPr marL="1511808" indent="-1511808" defTabSz="1511770">
              <a:spcBef>
                <a:spcPts val="2700"/>
              </a:spcBef>
              <a:buClr>
                <a:srgbClr val="FFFFFF"/>
              </a:buClr>
              <a:buSzPct val="100000"/>
              <a:buAutoNum type="arabicPeriod"/>
              <a:defRPr sz="2976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  <a:latin typeface="SF Mono Regular"/>
                <a:ea typeface="SF Mono Regular"/>
                <a:cs typeface="SF Mono Regular"/>
                <a:sym typeface="SF Mono Regular"/>
              </a:defRPr>
            </a:pPr>
            <a:r>
              <a:t>#SBATCH --mail-type=ALL </a:t>
            </a:r>
            <a:endParaRPr sz="744"/>
          </a:p>
          <a:p>
            <a:pPr marL="1511808" indent="-1511808" defTabSz="1511770">
              <a:spcBef>
                <a:spcPts val="2700"/>
              </a:spcBef>
              <a:buClr>
                <a:srgbClr val="FFFFFF"/>
              </a:buClr>
              <a:buSzPct val="100000"/>
              <a:buAutoNum type="arabicPeriod"/>
              <a:defRPr sz="2976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  <a:latin typeface="SF Mono Regular"/>
                <a:ea typeface="SF Mono Regular"/>
                <a:cs typeface="SF Mono Regular"/>
                <a:sym typeface="SF Mono Regular"/>
              </a:defRPr>
            </a:pPr>
            <a:r>
              <a:t>#SBATCH --mail-user=&lt;username&gt;@abdn.ac.uk </a:t>
            </a:r>
            <a:endParaRPr sz="744"/>
          </a:p>
          <a:p>
            <a:pPr marL="1511808" indent="-1511808" defTabSz="1511770">
              <a:spcBef>
                <a:spcPts val="2700"/>
              </a:spcBef>
              <a:buClr>
                <a:srgbClr val="FFFFFF"/>
              </a:buClr>
              <a:buSzPct val="100000"/>
              <a:buAutoNum type="arabicPeriod"/>
              <a:defRPr sz="2976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  <a:latin typeface="SF Mono Regular"/>
                <a:ea typeface="SF Mono Regular"/>
                <a:cs typeface="SF Mono Regular"/>
                <a:sym typeface="SF Mono Regular"/>
              </a:defRPr>
            </a:pPr>
            <a:r>
              <a:t>module load anaconda3</a:t>
            </a:r>
            <a:endParaRPr sz="744"/>
          </a:p>
          <a:p>
            <a:pPr marL="1511808" indent="-1511808" defTabSz="1511770">
              <a:spcBef>
                <a:spcPts val="2700"/>
              </a:spcBef>
              <a:buClr>
                <a:srgbClr val="FFFFFF"/>
              </a:buClr>
              <a:buSzPct val="100000"/>
              <a:buAutoNum type="arabicPeriod"/>
              <a:defRPr sz="2976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  <a:latin typeface="SF Mono Regular"/>
                <a:ea typeface="SF Mono Regular"/>
                <a:cs typeface="SF Mono Regular"/>
                <a:sym typeface="SF Mono Regular"/>
              </a:defRPr>
            </a:pPr>
            <a:r>
              <a:t>source activate test</a:t>
            </a:r>
            <a:endParaRPr sz="744"/>
          </a:p>
          <a:p>
            <a:pPr marL="1511808" indent="-1511808" defTabSz="1511770">
              <a:spcBef>
                <a:spcPts val="2700"/>
              </a:spcBef>
              <a:buClr>
                <a:srgbClr val="FFFFFF"/>
              </a:buClr>
              <a:buSzPct val="100000"/>
              <a:buAutoNum type="arabicPeriod"/>
              <a:defRPr sz="2976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  <a:latin typeface="SF Mono Regular"/>
                <a:ea typeface="SF Mono Regular"/>
                <a:cs typeface="SF Mono Regular"/>
                <a:sym typeface="SF Mono Regular"/>
              </a:defRPr>
            </a:pPr>
            <a:endParaRPr sz="744"/>
          </a:p>
          <a:p>
            <a:pPr marL="1511808" indent="-1511808" defTabSz="1511770">
              <a:spcBef>
                <a:spcPts val="2700"/>
              </a:spcBef>
              <a:buClr>
                <a:srgbClr val="FFFFFF"/>
              </a:buClr>
              <a:buSzPct val="100000"/>
              <a:buAutoNum type="arabicPeriod" startAt="15"/>
              <a:defRPr sz="2976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  <a:latin typeface="SF Mono Regular"/>
                <a:ea typeface="SF Mono Regular"/>
                <a:cs typeface="SF Mono Regular"/>
                <a:sym typeface="SF Mono Regular"/>
              </a:defRPr>
            </a:pPr>
            <a:r>
              <a:t>srun python example_script.py --epochs=25 --save /home/&lt;username&gt;/sharedscratch/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Using Maxwel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Using Maxwell</a:t>
            </a:r>
          </a:p>
        </p:txBody>
      </p:sp>
      <p:sp>
        <p:nvSpPr>
          <p:cNvPr id="326" name="The partition specifies which compute nodes you will use,  e.g. hmem, cgpu, a100, etc.…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21782454" cy="8256012"/>
          </a:xfrm>
          <a:prstGeom prst="rect">
            <a:avLst/>
          </a:prstGeom>
        </p:spPr>
        <p:txBody>
          <a:bodyPr/>
          <a:lstStyle/>
          <a:p>
            <a:pPr marL="0" indent="0" defTabSz="1853137">
              <a:spcBef>
                <a:spcPts val="3400"/>
              </a:spcBef>
              <a:buSzTx/>
              <a:buNone/>
              <a:defRPr sz="3648"/>
            </a:pPr>
            <a:r>
              <a:t>The partition specifies which compute nodes you will use,  e.g. hmem, cgpu, a100, etc.</a:t>
            </a:r>
            <a:endParaRPr sz="912"/>
          </a:p>
          <a:p>
            <a:pPr marL="0" indent="0" defTabSz="1853137">
              <a:spcBef>
                <a:spcPts val="3400"/>
              </a:spcBef>
              <a:buSzTx/>
              <a:buNone/>
              <a:defRPr sz="3648"/>
            </a:pPr>
            <a:r>
              <a:t>To submit the previous job script named `</a:t>
            </a:r>
            <a:r>
              <a:rPr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  <a:latin typeface="SF Mono Regular"/>
                <a:ea typeface="SF Mono Regular"/>
                <a:cs typeface="SF Mono Regular"/>
                <a:sym typeface="SF Mono Regular"/>
              </a:rPr>
              <a:t>run_example.sh</a:t>
            </a:r>
            <a:r>
              <a:t>` to the Slurm scheduler we use the `sbatch` command:</a:t>
            </a:r>
            <a:endParaRPr sz="912"/>
          </a:p>
          <a:p>
            <a:pPr marL="0" indent="0" algn="ctr" defTabSz="1853137">
              <a:spcBef>
                <a:spcPts val="3400"/>
              </a:spcBef>
              <a:buSzTx/>
              <a:buNone/>
              <a:defRPr sz="3648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  <a:latin typeface="SF Mono Regular"/>
                <a:ea typeface="SF Mono Regular"/>
                <a:cs typeface="SF Mono Regular"/>
                <a:sym typeface="SF Mono Regular"/>
              </a:defRPr>
            </a:pPr>
            <a:r>
              <a:t>sbatch run_example.sh</a:t>
            </a:r>
            <a:endParaRPr sz="912"/>
          </a:p>
          <a:p>
            <a:pPr marL="0" indent="0" defTabSz="1853137">
              <a:spcBef>
                <a:spcPts val="3400"/>
              </a:spcBef>
              <a:buSzTx/>
              <a:buNone/>
              <a:defRPr sz="3648"/>
            </a:pPr>
            <a:r>
              <a:t>The job may run immediately or may take upto a few days to run depending on the number of existing jobs, you will receive an email notification if you use the SLURM command `email`.</a:t>
            </a:r>
            <a:endParaRPr sz="912"/>
          </a:p>
          <a:p>
            <a:pPr marL="0" indent="0" defTabSz="1853137">
              <a:spcBef>
                <a:spcPts val="3400"/>
              </a:spcBef>
              <a:buSzTx/>
              <a:buNone/>
              <a:defRPr sz="3648"/>
            </a:pPr>
            <a:r>
              <a:t>To check the status of queued and running jobs, use the following:</a:t>
            </a:r>
            <a:endParaRPr sz="912"/>
          </a:p>
          <a:p>
            <a:pPr marL="0" indent="0" algn="ctr" defTabSz="1853137">
              <a:spcBef>
                <a:spcPts val="3400"/>
              </a:spcBef>
              <a:buSzTx/>
              <a:buNone/>
              <a:defRPr sz="3648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  <a:latin typeface="SF Mono Regular"/>
                <a:ea typeface="SF Mono Regular"/>
                <a:cs typeface="SF Mono Regular"/>
                <a:sym typeface="SF Mono Regular"/>
              </a:defRPr>
            </a:pPr>
            <a:r>
              <a:t>squeue -u &lt;username&gt;</a:t>
            </a:r>
            <a:endParaRPr sz="912"/>
          </a:p>
          <a:p>
            <a:pPr marL="0" indent="0" defTabSz="1853137">
              <a:spcBef>
                <a:spcPts val="3400"/>
              </a:spcBef>
              <a:buSzTx/>
              <a:buNone/>
              <a:defRPr sz="3648"/>
            </a:pPr>
            <a:r>
              <a:t>If you wish to cancel a job simply use:</a:t>
            </a:r>
            <a:endParaRPr sz="912"/>
          </a:p>
          <a:p>
            <a:pPr marL="0" indent="0" algn="ctr" defTabSz="1853137">
              <a:spcBef>
                <a:spcPts val="3400"/>
              </a:spcBef>
              <a:buSzTx/>
              <a:buNone/>
              <a:defRPr sz="3648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  <a:latin typeface="SF Mono Regular"/>
                <a:ea typeface="SF Mono Regular"/>
                <a:cs typeface="SF Mono Regular"/>
                <a:sym typeface="SF Mono Regular"/>
              </a:defRPr>
            </a:pPr>
            <a:r>
              <a:t>scancel &lt;job_ID&gt;</a:t>
            </a:r>
          </a:p>
        </p:txBody>
      </p:sp>
      <p:sp>
        <p:nvSpPr>
          <p:cNvPr id="327" name="Requesting Resource (3/3)"/>
          <p:cNvSpPr txBox="1"/>
          <p:nvPr/>
        </p:nvSpPr>
        <p:spPr>
          <a:xfrm>
            <a:off x="1206500" y="2245962"/>
            <a:ext cx="9779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sz="5500" b="1"/>
            </a:lvl1pPr>
          </a:lstStyle>
          <a:p>
            <a:r>
              <a:t>Requesting Resource (3/3)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Using Maxwel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Using Maxwell</a:t>
            </a:r>
          </a:p>
        </p:txBody>
      </p:sp>
      <p:sp>
        <p:nvSpPr>
          <p:cNvPr id="330" name="SLURM arrays:…"/>
          <p:cNvSpPr txBox="1">
            <a:spLocks noGrp="1"/>
          </p:cNvSpPr>
          <p:nvPr>
            <p:ph type="body" idx="1"/>
          </p:nvPr>
        </p:nvSpPr>
        <p:spPr>
          <a:xfrm>
            <a:off x="1300773" y="4248504"/>
            <a:ext cx="21782454" cy="8256012"/>
          </a:xfrm>
          <a:prstGeom prst="rect">
            <a:avLst/>
          </a:prstGeom>
        </p:spPr>
        <p:txBody>
          <a:bodyPr/>
          <a:lstStyle/>
          <a:p>
            <a:pPr marL="0" indent="0" defTabSz="2121354">
              <a:spcBef>
                <a:spcPts val="3900"/>
              </a:spcBef>
              <a:buSzTx/>
              <a:buNone/>
              <a:defRPr sz="4176"/>
            </a:pPr>
            <a:r>
              <a:t>SLURM arrays:</a:t>
            </a:r>
          </a:p>
          <a:p>
            <a:pPr marL="0" indent="0" defTabSz="2121354">
              <a:spcBef>
                <a:spcPts val="3900"/>
              </a:spcBef>
              <a:buSzTx/>
              <a:buNone/>
              <a:defRPr sz="4176"/>
            </a:pPr>
            <a:r>
              <a:t>A slurm array batch job is similar to just running a ‘for’ loop over the sbatch script.</a:t>
            </a:r>
          </a:p>
          <a:p>
            <a:pPr marL="530352" indent="-530352" defTabSz="2121354">
              <a:spcBef>
                <a:spcPts val="3900"/>
              </a:spcBef>
              <a:defRPr sz="4176"/>
            </a:pPr>
            <a:r>
              <a:t>All runs have the same jobid with a predictable id as a suffix.</a:t>
            </a:r>
          </a:p>
          <a:p>
            <a:pPr marL="530352" indent="-530352" defTabSz="2121354">
              <a:spcBef>
                <a:spcPts val="3900"/>
              </a:spcBef>
              <a:buClr>
                <a:srgbClr val="FFFFFF"/>
              </a:buClr>
              <a:buSzPct val="64000"/>
              <a:defRPr sz="4176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  <a:latin typeface="SF Mono Regular"/>
                <a:ea typeface="SF Mono Regular"/>
                <a:cs typeface="SF Mono Regular"/>
                <a:sym typeface="SF Mono Regular"/>
              </a:defRPr>
            </a:pPr>
            <a:r>
              <a:t>#SBATCH --array=1-10</a:t>
            </a:r>
          </a:p>
          <a:p>
            <a:pPr marL="0" indent="0" algn="ctr" defTabSz="2121354">
              <a:spcBef>
                <a:spcPts val="3900"/>
              </a:spcBef>
              <a:buSzTx/>
              <a:buNone/>
              <a:defRPr sz="4176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  <a:latin typeface="SF Mono Regular"/>
                <a:ea typeface="SF Mono Regular"/>
                <a:cs typeface="SF Mono Regular"/>
                <a:sym typeface="SF Mono Regular"/>
              </a:defRPr>
            </a:pPr>
            <a:r>
              <a:t>srun python addone.py $SLURM_ARRAY_TASK_ID</a:t>
            </a:r>
          </a:p>
          <a:p>
            <a:pPr marL="0" indent="0" defTabSz="2121354">
              <a:spcBef>
                <a:spcPts val="3900"/>
              </a:spcBef>
              <a:buSzTx/>
              <a:buNone/>
              <a:defRPr sz="4176"/>
            </a:pPr>
            <a:endParaRPr/>
          </a:p>
          <a:p>
            <a:pPr marL="0" indent="0" defTabSz="2121354">
              <a:spcBef>
                <a:spcPts val="3900"/>
              </a:spcBef>
              <a:buSzTx/>
              <a:buNone/>
              <a:defRPr sz="4176"/>
            </a:pPr>
            <a:r>
              <a:rPr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  <a:latin typeface="SF Mono Regular"/>
                <a:ea typeface="SF Mono Regular"/>
                <a:cs typeface="SF Mono Regular"/>
                <a:sym typeface="SF Mono Regular"/>
              </a:rPr>
              <a:t>#SBATCH</a:t>
            </a:r>
            <a:r>
              <a:t> Commands:</a:t>
            </a:r>
          </a:p>
          <a:p>
            <a:pPr marL="530352" indent="-530352" defTabSz="2121354">
              <a:spcBef>
                <a:spcPts val="3900"/>
              </a:spcBef>
              <a:defRPr sz="4176"/>
            </a:pPr>
            <a:r>
              <a:t>A full list can be found here: </a:t>
            </a:r>
            <a:r>
              <a:rPr>
                <a:hlinkClick r:id="rId2"/>
              </a:rPr>
              <a:t>https://slurm.schedmd.com/sbatch.html</a:t>
            </a:r>
            <a:r>
              <a:t> </a:t>
            </a:r>
          </a:p>
        </p:txBody>
      </p:sp>
      <p:sp>
        <p:nvSpPr>
          <p:cNvPr id="331" name="SLURM Settings"/>
          <p:cNvSpPr txBox="1"/>
          <p:nvPr/>
        </p:nvSpPr>
        <p:spPr>
          <a:xfrm>
            <a:off x="1206500" y="2245962"/>
            <a:ext cx="9779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sz="5500" b="1"/>
            </a:lvl1pPr>
          </a:lstStyle>
          <a:p>
            <a:r>
              <a:t>SLURM Settings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Using Maxwel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Using Maxwell</a:t>
            </a:r>
          </a:p>
        </p:txBody>
      </p:sp>
      <p:sp>
        <p:nvSpPr>
          <p:cNvPr id="334" name="Monitoring jobs can most simply be achieved by printing the logs specified in the run script.…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21782454" cy="8256012"/>
          </a:xfrm>
          <a:prstGeom prst="rect">
            <a:avLst/>
          </a:prstGeom>
        </p:spPr>
        <p:txBody>
          <a:bodyPr/>
          <a:lstStyle/>
          <a:p>
            <a:pPr marL="0" indent="0" defTabSz="1877520">
              <a:spcBef>
                <a:spcPts val="3400"/>
              </a:spcBef>
              <a:buSzTx/>
              <a:buNone/>
              <a:defRPr sz="3696"/>
            </a:pPr>
            <a:r>
              <a:t>Monitoring jobs can most simply be achieved by printing the logs specified in the run script.</a:t>
            </a:r>
          </a:p>
          <a:p>
            <a:pPr marL="0" indent="0" algn="ctr" defTabSz="1877520">
              <a:spcBef>
                <a:spcPts val="3400"/>
              </a:spcBef>
              <a:buSzTx/>
              <a:buNone/>
              <a:defRPr sz="3696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  <a:latin typeface="SF Mono Regular"/>
                <a:ea typeface="SF Mono Regular"/>
                <a:cs typeface="SF Mono Regular"/>
                <a:sym typeface="SF Mono Regular"/>
              </a:defRPr>
            </a:pPr>
            <a:r>
              <a:t>#SBATCH -o slurm.%j.out</a:t>
            </a:r>
          </a:p>
          <a:p>
            <a:pPr marL="0" indent="0" algn="ctr" defTabSz="1877520">
              <a:spcBef>
                <a:spcPts val="3400"/>
              </a:spcBef>
              <a:buSzTx/>
              <a:buNone/>
              <a:defRPr sz="3696">
                <a:solidFill>
                  <a:schemeClr val="accent3">
                    <a:hueOff val="-385756"/>
                    <a:satOff val="-32155"/>
                    <a:lumOff val="17967"/>
                  </a:schemeClr>
                </a:solidFill>
                <a:latin typeface="SF Mono Regular"/>
                <a:ea typeface="SF Mono Regular"/>
                <a:cs typeface="SF Mono Regular"/>
                <a:sym typeface="SF Mono Regular"/>
              </a:defRPr>
            </a:pPr>
            <a:r>
              <a:t>#SBATCH -e slurm.%j.err</a:t>
            </a:r>
          </a:p>
          <a:p>
            <a:pPr marL="0" indent="0" defTabSz="1877520">
              <a:spcBef>
                <a:spcPts val="3400"/>
              </a:spcBef>
              <a:buSzTx/>
              <a:buNone/>
              <a:defRPr sz="3696"/>
            </a:pPr>
            <a:r>
              <a:t>This produces two logs per submitted job:</a:t>
            </a:r>
          </a:p>
          <a:p>
            <a:pPr marL="469391" indent="-469391" defTabSz="1877520">
              <a:spcBef>
                <a:spcPts val="3400"/>
              </a:spcBef>
              <a:defRPr sz="3696"/>
            </a:pPr>
            <a:r>
              <a:t>STDOUT</a:t>
            </a:r>
          </a:p>
          <a:p>
            <a:pPr marL="469391" indent="-469391" defTabSz="1877520">
              <a:spcBef>
                <a:spcPts val="3400"/>
              </a:spcBef>
              <a:defRPr sz="3696"/>
            </a:pPr>
            <a:r>
              <a:t>STDERR</a:t>
            </a:r>
          </a:p>
          <a:p>
            <a:pPr marL="0" indent="0" defTabSz="1877520">
              <a:spcBef>
                <a:spcPts val="3400"/>
              </a:spcBef>
              <a:buSzTx/>
              <a:buNone/>
              <a:defRPr sz="3696"/>
            </a:pPr>
            <a:r>
              <a:t>Many other web/cloud monitoring tools exist (ML focused):</a:t>
            </a:r>
          </a:p>
          <a:p>
            <a:pPr marL="469391" indent="-469391" defTabSz="1877520">
              <a:spcBef>
                <a:spcPts val="3400"/>
              </a:spcBef>
              <a:defRPr sz="3696"/>
            </a:pPr>
            <a:r>
              <a:t>Weights and Biases - </a:t>
            </a:r>
            <a:r>
              <a:rPr>
                <a:hlinkClick r:id="rId2"/>
              </a:rPr>
              <a:t>https://wandb.ai</a:t>
            </a:r>
            <a:r>
              <a:t> </a:t>
            </a:r>
          </a:p>
          <a:p>
            <a:pPr marL="469391" indent="-469391" defTabSz="1877520">
              <a:spcBef>
                <a:spcPts val="3400"/>
              </a:spcBef>
              <a:defRPr sz="3696"/>
            </a:pPr>
            <a:r>
              <a:t>Neptune.ai - </a:t>
            </a:r>
            <a:r>
              <a:rPr>
                <a:hlinkClick r:id="rId3"/>
              </a:rPr>
              <a:t>https://neptune.ai</a:t>
            </a:r>
            <a:r>
              <a:t> </a:t>
            </a:r>
          </a:p>
        </p:txBody>
      </p:sp>
      <p:sp>
        <p:nvSpPr>
          <p:cNvPr id="335" name="Monitoring Jobs"/>
          <p:cNvSpPr txBox="1"/>
          <p:nvPr/>
        </p:nvSpPr>
        <p:spPr>
          <a:xfrm>
            <a:off x="1206500" y="2245962"/>
            <a:ext cx="9779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sz="5500" b="1"/>
            </a:lvl1pPr>
          </a:lstStyle>
          <a:p>
            <a:r>
              <a:t>Monitoring Jobs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Exercise:…"/>
          <p:cNvSpPr txBox="1">
            <a:spLocks noGrp="1"/>
          </p:cNvSpPr>
          <p:nvPr>
            <p:ph type="body" idx="1"/>
          </p:nvPr>
        </p:nvSpPr>
        <p:spPr>
          <a:xfrm>
            <a:off x="1206500" y="1778692"/>
            <a:ext cx="21971000" cy="10158616"/>
          </a:xfrm>
          <a:prstGeom prst="rect">
            <a:avLst/>
          </a:prstGeom>
        </p:spPr>
        <p:txBody>
          <a:bodyPr/>
          <a:lstStyle/>
          <a:p>
            <a:pPr defTabSz="2340805">
              <a:defRPr sz="11136" spc="-222"/>
            </a:pPr>
            <a:r>
              <a:rPr dirty="0"/>
              <a:t>Exercise:</a:t>
            </a:r>
          </a:p>
          <a:p>
            <a:pPr defTabSz="2340805">
              <a:defRPr sz="11136" spc="-222"/>
            </a:pPr>
            <a:endParaRPr dirty="0"/>
          </a:p>
          <a:p>
            <a:pPr defTabSz="2340805">
              <a:defRPr sz="11136" spc="-222"/>
            </a:pPr>
            <a:r>
              <a:rPr dirty="0"/>
              <a:t>Run the script using </a:t>
            </a:r>
          </a:p>
          <a:p>
            <a:pPr defTabSz="2340805">
              <a:defRPr sz="11136" spc="-222"/>
            </a:pPr>
            <a:r>
              <a:rPr dirty="0"/>
              <a:t>1 GPU &amp; 1 Node.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Writing Performant Code"/>
          <p:cNvSpPr txBox="1">
            <a:spLocks noGrp="1"/>
          </p:cNvSpPr>
          <p:nvPr>
            <p:ph type="title"/>
          </p:nvPr>
        </p:nvSpPr>
        <p:spPr>
          <a:xfrm>
            <a:off x="1206500" y="952500"/>
            <a:ext cx="12012562" cy="1435100"/>
          </a:xfrm>
          <a:prstGeom prst="rect">
            <a:avLst/>
          </a:prstGeom>
        </p:spPr>
        <p:txBody>
          <a:bodyPr/>
          <a:lstStyle>
            <a:lvl1pPr defTabSz="2340805">
              <a:defRPr sz="8160" spc="-163"/>
            </a:lvl1pPr>
          </a:lstStyle>
          <a:p>
            <a:r>
              <a:t>Writing Performant Code</a:t>
            </a:r>
          </a:p>
        </p:txBody>
      </p:sp>
      <p:sp>
        <p:nvSpPr>
          <p:cNvPr id="342" name="Using more than 1 GPU…"/>
          <p:cNvSpPr txBox="1">
            <a:spLocks noGrp="1"/>
          </p:cNvSpPr>
          <p:nvPr>
            <p:ph type="body" sz="half" idx="1"/>
          </p:nvPr>
        </p:nvSpPr>
        <p:spPr>
          <a:xfrm>
            <a:off x="1206500" y="4248504"/>
            <a:ext cx="10045794" cy="8256012"/>
          </a:xfrm>
          <a:prstGeom prst="rect">
            <a:avLst/>
          </a:prstGeom>
        </p:spPr>
        <p:txBody>
          <a:bodyPr/>
          <a:lstStyle/>
          <a:p>
            <a:pPr marL="0" indent="0" defTabSz="2243271">
              <a:spcBef>
                <a:spcPts val="4100"/>
              </a:spcBef>
              <a:buSzTx/>
              <a:buNone/>
              <a:defRPr sz="4416"/>
            </a:pPr>
            <a:r>
              <a:t>Using more than 1 GPU</a:t>
            </a:r>
            <a:endParaRPr sz="1104"/>
          </a:p>
          <a:p>
            <a:pPr marL="560831" indent="-560831" defTabSz="2243271">
              <a:spcBef>
                <a:spcPts val="4100"/>
              </a:spcBef>
              <a:defRPr sz="4416"/>
            </a:pPr>
            <a:r>
              <a:t>When requesting more than 1 GPU ensure your code is configured to utilise the additional GPU’s</a:t>
            </a:r>
            <a:endParaRPr sz="1104"/>
          </a:p>
          <a:p>
            <a:pPr marL="560831" indent="-560831" defTabSz="2243271">
              <a:spcBef>
                <a:spcPts val="4100"/>
              </a:spcBef>
              <a:defRPr sz="4416"/>
            </a:pPr>
            <a:r>
              <a:t>By default PyTorch will only use 1 GPU.</a:t>
            </a:r>
            <a:endParaRPr sz="1104"/>
          </a:p>
          <a:p>
            <a:pPr marL="560831" indent="-560831" defTabSz="2243271">
              <a:spcBef>
                <a:spcPts val="4100"/>
              </a:spcBef>
              <a:defRPr sz="4416"/>
            </a:pPr>
            <a:r>
              <a:t>To use multiple GPUs on one node implement DataParallel.</a:t>
            </a:r>
            <a:endParaRPr sz="1104"/>
          </a:p>
          <a:p>
            <a:pPr marL="0" indent="0" defTabSz="2243271">
              <a:spcBef>
                <a:spcPts val="4100"/>
              </a:spcBef>
              <a:buSzTx/>
              <a:buNone/>
              <a:defRPr sz="4416"/>
            </a:pPr>
            <a:r>
              <a:rPr u="sng">
                <a:hlinkClick r:id="rId2"/>
              </a:rPr>
              <a:t>https://pytorch.org/docs/stable/generated/torch.nn.DataParallel.html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</a:p>
        </p:txBody>
      </p:sp>
      <p:sp>
        <p:nvSpPr>
          <p:cNvPr id="343" name="Distributed Computation"/>
          <p:cNvSpPr txBox="1"/>
          <p:nvPr/>
        </p:nvSpPr>
        <p:spPr>
          <a:xfrm>
            <a:off x="1206500" y="2245962"/>
            <a:ext cx="9779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sz="5500" b="1"/>
            </a:lvl1pPr>
          </a:lstStyle>
          <a:p>
            <a:r>
              <a:t>Distributed Computation</a:t>
            </a:r>
          </a:p>
        </p:txBody>
      </p:sp>
      <p:sp>
        <p:nvSpPr>
          <p:cNvPr id="344" name="Using more than 1 Node (Advanced)…"/>
          <p:cNvSpPr txBox="1"/>
          <p:nvPr/>
        </p:nvSpPr>
        <p:spPr>
          <a:xfrm>
            <a:off x="12256032" y="4248504"/>
            <a:ext cx="1073877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pPr defTabSz="2243271">
              <a:spcBef>
                <a:spcPts val="4100"/>
              </a:spcBef>
              <a:defRPr sz="4416"/>
            </a:pPr>
            <a:r>
              <a:t>Using more than 1 Node (</a:t>
            </a:r>
            <a:r>
              <a:rPr i="1"/>
              <a:t>Advanced</a:t>
            </a:r>
            <a:r>
              <a:t>)</a:t>
            </a:r>
            <a:endParaRPr sz="1104"/>
          </a:p>
          <a:p>
            <a:pPr marL="560831" indent="-560831" defTabSz="2243271">
              <a:spcBef>
                <a:spcPts val="4100"/>
              </a:spcBef>
              <a:buSzPct val="123000"/>
              <a:buChar char="•"/>
              <a:defRPr sz="4416"/>
            </a:pPr>
            <a:r>
              <a:t>When requesting more than 1 node ensure your code is written with distributed computation.</a:t>
            </a:r>
            <a:endParaRPr sz="1104"/>
          </a:p>
          <a:p>
            <a:pPr marL="560831" indent="-560831" defTabSz="2243271">
              <a:spcBef>
                <a:spcPts val="4100"/>
              </a:spcBef>
              <a:buSzPct val="123000"/>
              <a:buChar char="•"/>
              <a:defRPr sz="4416"/>
            </a:pPr>
            <a:r>
              <a:t>By default PyTorch will run separate processes on each node.</a:t>
            </a:r>
            <a:endParaRPr sz="1104"/>
          </a:p>
          <a:p>
            <a:pPr marL="560831" indent="-560831" defTabSz="2243271">
              <a:spcBef>
                <a:spcPts val="4100"/>
              </a:spcBef>
              <a:buSzPct val="123000"/>
              <a:buChar char="•"/>
              <a:defRPr sz="4416"/>
            </a:pPr>
            <a:r>
              <a:t>To use multiple nodes, ensure your code communicates across nodes.</a:t>
            </a:r>
            <a:endParaRPr sz="1104"/>
          </a:p>
          <a:p>
            <a:pPr defTabSz="2243271">
              <a:spcBef>
                <a:spcPts val="4100"/>
              </a:spcBef>
              <a:defRPr sz="4416"/>
            </a:pPr>
            <a:r>
              <a:rPr u="sng">
                <a:hlinkClick r:id="rId3"/>
              </a:rPr>
              <a:t>https://pytorch.org/tutorials/intermediate/ddp_tutorial.html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Additional Resources"/>
          <p:cNvSpPr txBox="1">
            <a:spLocks noGrp="1"/>
          </p:cNvSpPr>
          <p:nvPr>
            <p:ph type="title"/>
          </p:nvPr>
        </p:nvSpPr>
        <p:spPr>
          <a:xfrm>
            <a:off x="1206500" y="952500"/>
            <a:ext cx="12012562" cy="1435100"/>
          </a:xfrm>
          <a:prstGeom prst="rect">
            <a:avLst/>
          </a:prstGeom>
        </p:spPr>
        <p:txBody>
          <a:bodyPr/>
          <a:lstStyle/>
          <a:p>
            <a:r>
              <a:t>Additional Resources </a:t>
            </a:r>
          </a:p>
        </p:txBody>
      </p:sp>
      <p:sp>
        <p:nvSpPr>
          <p:cNvPr id="347" name="SLURM: https://slurm.schedmd.com/quickstart.html…"/>
          <p:cNvSpPr txBox="1">
            <a:spLocks noGrp="1"/>
          </p:cNvSpPr>
          <p:nvPr>
            <p:ph type="body" idx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</p:spPr>
        <p:txBody>
          <a:bodyPr/>
          <a:lstStyle/>
          <a:p>
            <a:r>
              <a:rPr dirty="0"/>
              <a:t>SLURM: </a:t>
            </a:r>
            <a:r>
              <a:rPr dirty="0">
                <a:hlinkClick r:id="rId2"/>
              </a:rPr>
              <a:t>https://slurm.schedmd.com/quickstart.html</a:t>
            </a:r>
          </a:p>
          <a:p>
            <a:r>
              <a:rPr dirty="0"/>
              <a:t>Interactive Allocation: </a:t>
            </a:r>
            <a:r>
              <a:rPr dirty="0">
                <a:hlinkClick r:id="rId3"/>
              </a:rPr>
              <a:t>https://engaging-web.mit.edu/eofe-wiki/slurm/srun/</a:t>
            </a:r>
            <a:r>
              <a:rPr dirty="0"/>
              <a:t> </a:t>
            </a:r>
          </a:p>
          <a:p>
            <a:r>
              <a:rPr dirty="0"/>
              <a:t>ChatGPT for SLURM </a:t>
            </a:r>
          </a:p>
          <a:p>
            <a:r>
              <a:rPr dirty="0"/>
              <a:t>University Information: </a:t>
            </a:r>
            <a:r>
              <a:rPr dirty="0">
                <a:hlinkClick r:id="rId4"/>
              </a:rPr>
              <a:t>https://www.abdn.ac.uk/research/digital-research/hpc-for-research-1097.php</a:t>
            </a:r>
            <a:r>
              <a:rPr dirty="0"/>
              <a:t> </a:t>
            </a:r>
          </a:p>
          <a:p>
            <a:r>
              <a:rPr dirty="0"/>
              <a:t>Written Guide: </a:t>
            </a:r>
            <a:r>
              <a:rPr dirty="0">
                <a:hlinkClick r:id="rId5"/>
              </a:rPr>
              <a:t>https://github.com/AidenDurrant/abdn-hpc</a:t>
            </a:r>
            <a:r>
              <a:rPr dirty="0"/>
              <a:t>   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Exercise:…"/>
          <p:cNvSpPr txBox="1">
            <a:spLocks noGrp="1"/>
          </p:cNvSpPr>
          <p:nvPr>
            <p:ph type="body" idx="1"/>
          </p:nvPr>
        </p:nvSpPr>
        <p:spPr>
          <a:xfrm>
            <a:off x="1206500" y="1778692"/>
            <a:ext cx="21971000" cy="10158616"/>
          </a:xfrm>
          <a:prstGeom prst="rect">
            <a:avLst/>
          </a:prstGeom>
        </p:spPr>
        <p:txBody>
          <a:bodyPr/>
          <a:lstStyle/>
          <a:p>
            <a:r>
              <a:t>Exercise:</a:t>
            </a:r>
          </a:p>
          <a:p>
            <a:endParaRPr/>
          </a:p>
          <a:p>
            <a:r>
              <a:t>1. Experiment with creating a small script that uses what we learnt today 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Bonus Exercise:…"/>
          <p:cNvSpPr txBox="1">
            <a:spLocks noGrp="1"/>
          </p:cNvSpPr>
          <p:nvPr>
            <p:ph type="body" idx="1"/>
          </p:nvPr>
        </p:nvSpPr>
        <p:spPr>
          <a:xfrm>
            <a:off x="1206500" y="1778692"/>
            <a:ext cx="21971000" cy="1015861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Special Thanks</a:t>
            </a:r>
            <a:endParaRPr dirty="0"/>
          </a:p>
          <a:p>
            <a:br>
              <a:rPr lang="en-GB" dirty="0"/>
            </a:br>
            <a:r>
              <a:rPr lang="en-GB" dirty="0"/>
              <a:t>Dr Aiden Durrant</a:t>
            </a:r>
            <a:endParaRPr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2029</Words>
  <Application>Microsoft Office PowerPoint</Application>
  <PresentationFormat>Custom</PresentationFormat>
  <Paragraphs>278</Paragraphs>
  <Slides>32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Helvetica Neue</vt:lpstr>
      <vt:lpstr>Helvetica Neue Medium</vt:lpstr>
      <vt:lpstr>SF Mono Regular</vt:lpstr>
      <vt:lpstr>20_BasicBlack</vt:lpstr>
      <vt:lpstr>Using Maxwell HPC</vt:lpstr>
      <vt:lpstr>Today’s Session</vt:lpstr>
      <vt:lpstr>Maxwell</vt:lpstr>
      <vt:lpstr>Maxwell</vt:lpstr>
      <vt:lpstr>Maxwell</vt:lpstr>
      <vt:lpstr>Maxwell</vt:lpstr>
      <vt:lpstr>Carbon Usage</vt:lpstr>
      <vt:lpstr>Accessing Maxwell</vt:lpstr>
      <vt:lpstr>PowerPoint Presentation</vt:lpstr>
      <vt:lpstr>Accessing Maxwell</vt:lpstr>
      <vt:lpstr>Accessing Maxwell</vt:lpstr>
      <vt:lpstr>Using Maxwell</vt:lpstr>
      <vt:lpstr>Using Maxwell</vt:lpstr>
      <vt:lpstr>GitHub</vt:lpstr>
      <vt:lpstr>Using Maxwell</vt:lpstr>
      <vt:lpstr>Using Maxwell</vt:lpstr>
      <vt:lpstr>A. Setting Up Your Environment </vt:lpstr>
      <vt:lpstr>Using Maxwell</vt:lpstr>
      <vt:lpstr>PowerPoint Presentation</vt:lpstr>
      <vt:lpstr>SLURM</vt:lpstr>
      <vt:lpstr>SLURM</vt:lpstr>
      <vt:lpstr>B. Basic Commands</vt:lpstr>
      <vt:lpstr>Using Maxwell</vt:lpstr>
      <vt:lpstr>Using Maxwell</vt:lpstr>
      <vt:lpstr>Using Maxwell</vt:lpstr>
      <vt:lpstr>Using Maxwell</vt:lpstr>
      <vt:lpstr>Using Maxwell</vt:lpstr>
      <vt:lpstr>PowerPoint Presentation</vt:lpstr>
      <vt:lpstr>Writing Performant Code</vt:lpstr>
      <vt:lpstr>Additional Resources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Matt Beddows</dc:creator>
  <cp:lastModifiedBy>Beddows, Matthew</cp:lastModifiedBy>
  <cp:revision>4</cp:revision>
  <dcterms:modified xsi:type="dcterms:W3CDTF">2026-02-11T15:00:13Z</dcterms:modified>
</cp:coreProperties>
</file>